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each category flagged</c:v>
                </c:pt>
              </c:strCache>
            </c:strRef>
          </c:tx>
          <c:spPr>
            <a:solidFill>
              <a:srgbClr val="C8452B"/>
            </a:solidFill>
            <a:effectLst/>
          </c:spPr>
          <c:invertIfNegative val="0"/>
          <c:dLbls>
            <c:numFmt formatCode="0&quot;%&quot;" sourceLinked="0"/>
            <c:txPr>
              <a:bodyPr/>
              <a:lstStyle/>
              <a:p>
                <a:pPr>
                  <a:defRPr b="1" i="0" strike="noStrike" sz="1500" u="none">
                    <a:solidFill>
                      <a:srgbClr val="0F1729"/>
                    </a:solidFill>
                    <a:latin typeface="Arial"/>
                  </a:defRPr>
                </a:pPr>
              </a:p>
            </c:txPr>
            <c:showLegendKey val="0"/>
            <c:showVal val="1"/>
            <c:showCatName val="0"/>
            <c:showSerName val="0"/>
            <c:showPercent val="0"/>
            <c:showBubbleSize val="0"/>
            <c:showLeaderLines val="0"/>
          </c:dLbls>
          <c:dPt>
            <c:idx val="0"/>
            <c:invertIfNegative val="0"/>
            <c:bubble3D val="0"/>
            <c:spPr>
              <a:solidFill>
                <a:srgbClr val="C8452B"/>
              </a:solidFill>
              <a:effectLst/>
            </c:spPr>
          </c:dPt>
          <c:dPt>
            <c:idx val="1"/>
            <c:invertIfNegative val="0"/>
            <c:bubble3D val="0"/>
            <c:spPr>
              <a:solidFill>
                <a:srgbClr val="C8452B"/>
              </a:solidFill>
              <a:effectLst/>
            </c:spPr>
          </c:dPt>
          <c:dPt>
            <c:idx val="2"/>
            <c:invertIfNegative val="0"/>
            <c:bubble3D val="0"/>
            <c:spPr>
              <a:solidFill>
                <a:srgbClr val="2A6FB8"/>
              </a:solidFill>
              <a:effectLst/>
            </c:spPr>
          </c:dPt>
          <c:cat>
            <c:multiLvlStrRef>
              <c:f>Sheet1!$A$2:$A$4</c:f>
              <c:multiLvlStrCache>
                <c:ptCount val="3"/>
                <c:lvl>
                  <c:pt idx="0">
                    <c:v>Genuinely hateful
(should flag)</c:v>
                  </c:pt>
                  <c:pt idx="1">
                    <c:v>Merely rude
(should not)</c:v>
                  </c:pt>
                  <c:pt idx="2">
                    <c:v>Ordinary posts
(should not)</c:v>
                  </c:pt>
                </c:lvl>
              </c:multiLvlStrCache>
            </c:multiLvlStrRef>
          </c:cat>
          <c:val>
            <c:numRef>
              <c:f>Sheet1!$B$2:$B$4</c:f>
              <c:numCache>
                <c:formatCode>General</c:formatCode>
                <c:ptCount val="3"/>
                <c:pt idx="0">
                  <c:v>83</c:v>
                </c:pt>
                <c:pt idx="1">
                  <c:v>83</c:v>
                </c:pt>
                <c:pt idx="2">
                  <c:v>27</c:v>
                </c:pt>
              </c:numCache>
            </c:numRef>
          </c:val>
        </c:ser>
        <c:dLbls>
          <c:numFmt formatCode="0&quot;%&quot;" sourceLinked="0"/>
          <c:txPr>
            <a:bodyPr/>
            <a:lstStyle/>
            <a:p>
              <a:pPr>
                <a:defRPr b="1" i="0" strike="noStrike" sz="1500" u="none">
                  <a:solidFill>
                    <a:srgbClr val="0F1729"/>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50" b="0" i="0" u="none" strike="noStrike">
                <a:solidFill>
                  <a:srgbClr val="44506B"/>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12700" cap="flat">
              <a:solidFill>
                <a:srgbClr val="DDE3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94AD"/>
                </a:solidFill>
                <a:latin typeface="Arial"/>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day, a social platform receives more posts than any team of humans could ever read. This briefing is about which of those posts a person should look at first, and what I found when I tested two ways of deciding.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constraint. A fixed review team can realistically read about one percent of what arrives. You can't review everything, and you can't just delete automatically, because if you get that wrong you have silenced ordinary people, and you will hear about it from them, from the press, and from the regulator. So the question isn't whether a computer can spot harmful content. It's this: given that we only ever get to look at a tiny slice, which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 did. I took two public collections of online comments that people had already judged as harmful or not — about twenty-five thousand posts from one platform, and about a hundred and sixty thousand from another. I built two different automated systems to sort content by how likely it is to break the rules. And I tested each one five separate times, on different slices of the data, so the numbers aren't a fluke. One assumption runs through all of it: the machine's job is to rank, not to decide. A human still makes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finding: the obvious scoreboard lies. On one dataset, the more sophisticated system was more accurate overall — ninety-four point five percent of its decisions were right, against ninety-two point two. But it caught only thirteen percent of the genuinely harmful posts. The simpler, less accurate system caught forty-one percent. That happens because harmful content is rare — under six percent of the data. A system that flagged absolutely nothing would score ninety-four percent accuracy and be completely worthless. So accuracy is the wrong scoreboard. What matters is how much harm you actually catch, and how clean the queue is that you hand a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finding, and this one surprised me. Once I measured them properly, the two systems were the same. The difference between them was small enough to be chance. They rank content in essentially the same order. What differs is only where you draw the cut-off line. That reframes the whole decision. Choosing between these two systems isn't an engineering question. It's a staffing question: how many reviewers you have rostered is what decides where the line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finding that matters most. I took a system trained on one platform's data and pointed it at a different platform. On its home turf it looked excellent. On the new data it flagged seventy-three percent of everything that came through — when the true rate of harmful content was under six percent. And look at how it failed. It flagged genuinely hateful posts eighty-three percent of the time, and merely rude posts eighty-three percent of the time. The identical rate. It cannot tell them apart, because the data it learned from never made that distinction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production that isn't a slightly worse score. That is mass wrongful removal of ordinary people's posts. That is an appeals backlog, press coverage, and a regulator asking questions. And the part that should worry you most: no amount of testing on the original dataset would have caught it. It only appeared when I changed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three recommendations. First, ship the simpler system — it ranks just as well, costs a fraction as much to train, and when someone appeals a removal you can actually explain why it was flagged. Second, treat the cut-off as an operational dial tied to how many reviewers you have that week, rather than a fixed property of the model. And third, never sign off a moderation model on a single source of labelled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caveats I would put on all of this. Both datasets are English text, and the platform I have in mind is short video in many languages. And a system that looks fair on average can still be much worse for one particular community — so before anything went live I would want the error rates broken down by dialect and speaker group, not just the headline number. The single line I would leave you with: measure the queue, not the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685800" y="1691640"/>
            <a:ext cx="10820095" cy="274320"/>
          </a:xfrm>
          <a:prstGeom prst="rect">
            <a:avLst/>
          </a:prstGeom>
          <a:noFill/>
          <a:ln/>
        </p:spPr>
        <p:txBody>
          <a:bodyPr wrap="square" lIns="0" tIns="0" rIns="0" bIns="0" rtlCol="0" anchor="ctr"/>
          <a:lstStyle/>
          <a:p>
            <a:pPr indent="0" marL="0">
              <a:buNone/>
            </a:pPr>
            <a:r>
              <a:rPr lang="en-US" sz="1300" b="1" spc="260" kern="0" dirty="0">
                <a:solidFill>
                  <a:srgbClr val="FF6B5B"/>
                </a:solidFill>
                <a:latin typeface="Calibri" pitchFamily="34" charset="0"/>
                <a:ea typeface="Calibri" pitchFamily="34" charset="-122"/>
                <a:cs typeface="Calibri" pitchFamily="34" charset="-120"/>
              </a:rPr>
              <a:t>CASE STUDIES IN DATA SCIENCE  ·  INDIVIDUAL TASK 1</a:t>
            </a:r>
            <a:endParaRPr lang="en-US" sz="1300" dirty="0"/>
          </a:p>
        </p:txBody>
      </p:sp>
      <p:sp>
        <p:nvSpPr>
          <p:cNvPr id="3" name="Text 1"/>
          <p:cNvSpPr/>
          <p:nvPr/>
        </p:nvSpPr>
        <p:spPr>
          <a:xfrm>
            <a:off x="685800" y="2194560"/>
            <a:ext cx="9509760" cy="1280160"/>
          </a:xfrm>
          <a:prstGeom prst="rect">
            <a:avLst/>
          </a:prstGeom>
          <a:noFill/>
          <a:ln/>
        </p:spPr>
        <p:txBody>
          <a:bodyPr wrap="square" lIns="0" tIns="0" rIns="0" bIns="0" rtlCol="0" anchor="ctr"/>
          <a:lstStyle/>
          <a:p>
            <a:pPr indent="0" marL="0">
              <a:buNone/>
            </a:pPr>
            <a:r>
              <a:rPr lang="en-US" sz="6200" b="1" dirty="0">
                <a:solidFill>
                  <a:srgbClr val="E9EEF8"/>
                </a:solidFill>
                <a:latin typeface="Cambria" pitchFamily="34" charset="0"/>
                <a:ea typeface="Cambria" pitchFamily="34" charset="-122"/>
                <a:cs typeface="Cambria" pitchFamily="34" charset="-120"/>
              </a:rPr>
              <a:t>Who gets reviewed first?</a:t>
            </a:r>
            <a:endParaRPr lang="en-US" sz="6200" dirty="0"/>
          </a:p>
        </p:txBody>
      </p:sp>
      <p:sp>
        <p:nvSpPr>
          <p:cNvPr id="4" name="Text 2"/>
          <p:cNvSpPr/>
          <p:nvPr/>
        </p:nvSpPr>
        <p:spPr>
          <a:xfrm>
            <a:off x="685800" y="3611880"/>
            <a:ext cx="8046720" cy="822960"/>
          </a:xfrm>
          <a:prstGeom prst="rect">
            <a:avLst/>
          </a:prstGeom>
          <a:noFill/>
          <a:ln/>
        </p:spPr>
        <p:txBody>
          <a:bodyPr wrap="square" lIns="0" tIns="0" rIns="0" bIns="0" rtlCol="0" anchor="ctr"/>
          <a:lstStyle/>
          <a:p>
            <a:pPr indent="0" marL="0">
              <a:lnSpc>
                <a:spcPts val="2800"/>
              </a:lnSpc>
              <a:buNone/>
            </a:pPr>
            <a:r>
              <a:rPr lang="en-US" sz="2000" dirty="0">
                <a:solidFill>
                  <a:srgbClr val="93A9CC"/>
                </a:solidFill>
                <a:latin typeface="Calibri" pitchFamily="34" charset="0"/>
                <a:ea typeface="Calibri" pitchFamily="34" charset="-122"/>
                <a:cs typeface="Calibri" pitchFamily="34" charset="-120"/>
              </a:rPr>
              <a:t>Machine learning for content moderation when you cannot read everything</a:t>
            </a:r>
            <a:endParaRPr lang="en-US" sz="2000" dirty="0"/>
          </a:p>
        </p:txBody>
      </p:sp>
      <p:sp>
        <p:nvSpPr>
          <p:cNvPr id="5" name="Shape 3"/>
          <p:cNvSpPr/>
          <p:nvPr/>
        </p:nvSpPr>
        <p:spPr>
          <a:xfrm>
            <a:off x="685800" y="4892040"/>
            <a:ext cx="155448" cy="155448"/>
          </a:xfrm>
          <a:prstGeom prst="roundRect">
            <a:avLst>
              <a:gd name="adj" fmla="val 23529"/>
            </a:avLst>
          </a:prstGeom>
          <a:solidFill>
            <a:srgbClr val="27395C"/>
          </a:solidFill>
          <a:ln/>
        </p:spPr>
      </p:sp>
      <p:sp>
        <p:nvSpPr>
          <p:cNvPr id="6" name="Shape 4"/>
          <p:cNvSpPr/>
          <p:nvPr/>
        </p:nvSpPr>
        <p:spPr>
          <a:xfrm>
            <a:off x="923544" y="4892040"/>
            <a:ext cx="155448" cy="155448"/>
          </a:xfrm>
          <a:prstGeom prst="roundRect">
            <a:avLst>
              <a:gd name="adj" fmla="val 23529"/>
            </a:avLst>
          </a:prstGeom>
          <a:solidFill>
            <a:srgbClr val="FF6B5B"/>
          </a:solidFill>
          <a:ln/>
        </p:spPr>
      </p:sp>
      <p:sp>
        <p:nvSpPr>
          <p:cNvPr id="7" name="Shape 5"/>
          <p:cNvSpPr/>
          <p:nvPr/>
        </p:nvSpPr>
        <p:spPr>
          <a:xfrm>
            <a:off x="1161288" y="4892040"/>
            <a:ext cx="155448" cy="155448"/>
          </a:xfrm>
          <a:prstGeom prst="roundRect">
            <a:avLst>
              <a:gd name="adj" fmla="val 23529"/>
            </a:avLst>
          </a:prstGeom>
          <a:solidFill>
            <a:srgbClr val="27395C"/>
          </a:solidFill>
          <a:ln/>
        </p:spPr>
      </p:sp>
      <p:sp>
        <p:nvSpPr>
          <p:cNvPr id="8" name="Shape 6"/>
          <p:cNvSpPr/>
          <p:nvPr/>
        </p:nvSpPr>
        <p:spPr>
          <a:xfrm>
            <a:off x="1399032" y="4892040"/>
            <a:ext cx="155448" cy="155448"/>
          </a:xfrm>
          <a:prstGeom prst="roundRect">
            <a:avLst>
              <a:gd name="adj" fmla="val 23529"/>
            </a:avLst>
          </a:prstGeom>
          <a:solidFill>
            <a:srgbClr val="27395C"/>
          </a:solidFill>
          <a:ln/>
        </p:spPr>
      </p:sp>
      <p:sp>
        <p:nvSpPr>
          <p:cNvPr id="9" name="Shape 7"/>
          <p:cNvSpPr/>
          <p:nvPr/>
        </p:nvSpPr>
        <p:spPr>
          <a:xfrm>
            <a:off x="1636776" y="4892040"/>
            <a:ext cx="155448" cy="155448"/>
          </a:xfrm>
          <a:prstGeom prst="roundRect">
            <a:avLst>
              <a:gd name="adj" fmla="val 23529"/>
            </a:avLst>
          </a:prstGeom>
          <a:solidFill>
            <a:srgbClr val="FF6B5B"/>
          </a:solidFill>
          <a:ln/>
        </p:spPr>
      </p:sp>
      <p:sp>
        <p:nvSpPr>
          <p:cNvPr id="10" name="Shape 8"/>
          <p:cNvSpPr/>
          <p:nvPr/>
        </p:nvSpPr>
        <p:spPr>
          <a:xfrm>
            <a:off x="1874520" y="4892040"/>
            <a:ext cx="155448" cy="155448"/>
          </a:xfrm>
          <a:prstGeom prst="roundRect">
            <a:avLst>
              <a:gd name="adj" fmla="val 23529"/>
            </a:avLst>
          </a:prstGeom>
          <a:solidFill>
            <a:srgbClr val="FF6B5B"/>
          </a:solidFill>
          <a:ln/>
        </p:spPr>
      </p:sp>
      <p:sp>
        <p:nvSpPr>
          <p:cNvPr id="11" name="Shape 9"/>
          <p:cNvSpPr/>
          <p:nvPr/>
        </p:nvSpPr>
        <p:spPr>
          <a:xfrm>
            <a:off x="2112264" y="4892040"/>
            <a:ext cx="155448" cy="155448"/>
          </a:xfrm>
          <a:prstGeom prst="roundRect">
            <a:avLst>
              <a:gd name="adj" fmla="val 23529"/>
            </a:avLst>
          </a:prstGeom>
          <a:solidFill>
            <a:srgbClr val="27395C"/>
          </a:solidFill>
          <a:ln/>
        </p:spPr>
      </p:sp>
      <p:sp>
        <p:nvSpPr>
          <p:cNvPr id="12" name="Shape 10"/>
          <p:cNvSpPr/>
          <p:nvPr/>
        </p:nvSpPr>
        <p:spPr>
          <a:xfrm>
            <a:off x="2350008" y="4892040"/>
            <a:ext cx="155448" cy="155448"/>
          </a:xfrm>
          <a:prstGeom prst="roundRect">
            <a:avLst>
              <a:gd name="adj" fmla="val 23529"/>
            </a:avLst>
          </a:prstGeom>
          <a:solidFill>
            <a:srgbClr val="27395C"/>
          </a:solidFill>
          <a:ln/>
        </p:spPr>
      </p:sp>
      <p:sp>
        <p:nvSpPr>
          <p:cNvPr id="13" name="Shape 11"/>
          <p:cNvSpPr/>
          <p:nvPr/>
        </p:nvSpPr>
        <p:spPr>
          <a:xfrm>
            <a:off x="2587752" y="4892040"/>
            <a:ext cx="155448" cy="155448"/>
          </a:xfrm>
          <a:prstGeom prst="roundRect">
            <a:avLst>
              <a:gd name="adj" fmla="val 23529"/>
            </a:avLst>
          </a:prstGeom>
          <a:solidFill>
            <a:srgbClr val="27395C"/>
          </a:solidFill>
          <a:ln/>
        </p:spPr>
      </p:sp>
      <p:sp>
        <p:nvSpPr>
          <p:cNvPr id="14" name="Text 12"/>
          <p:cNvSpPr/>
          <p:nvPr/>
        </p:nvSpPr>
        <p:spPr>
          <a:xfrm>
            <a:off x="685800" y="5349240"/>
            <a:ext cx="5486400" cy="320040"/>
          </a:xfrm>
          <a:prstGeom prst="rect">
            <a:avLst/>
          </a:prstGeom>
          <a:noFill/>
          <a:ln/>
        </p:spPr>
        <p:txBody>
          <a:bodyPr wrap="square" lIns="0" tIns="0" rIns="0" bIns="0" rtlCol="0" anchor="ctr"/>
          <a:lstStyle/>
          <a:p>
            <a:pPr indent="0" marL="0">
              <a:buNone/>
            </a:pPr>
            <a:r>
              <a:rPr lang="en-US" sz="1300" i="1" dirty="0">
                <a:solidFill>
                  <a:srgbClr val="93A9CC"/>
                </a:solidFill>
                <a:latin typeface="Calibri" pitchFamily="34" charset="0"/>
                <a:ea typeface="Calibri" pitchFamily="34" charset="-122"/>
                <a:cs typeface="Calibri" pitchFamily="34" charset="-120"/>
              </a:rPr>
              <a:t>A 4-minute executive briefing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685800" y="274320"/>
            <a:ext cx="10820095" cy="274320"/>
          </a:xfrm>
          <a:prstGeom prst="rect">
            <a:avLst/>
          </a:prstGeom>
          <a:noFill/>
          <a:ln/>
        </p:spPr>
        <p:txBody>
          <a:bodyPr wrap="square" lIns="0" tIns="0" rIns="0" bIns="0" rtlCol="0" anchor="ctr"/>
          <a:lstStyle/>
          <a:p>
            <a:pPr indent="0" marL="0">
              <a:buNone/>
            </a:pPr>
            <a:r>
              <a:rPr lang="en-US" sz="1200" b="1" spc="220" kern="0" dirty="0">
                <a:solidFill>
                  <a:srgbClr val="FF6B5B"/>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85800" y="566928"/>
            <a:ext cx="10820095" cy="868680"/>
          </a:xfrm>
          <a:prstGeom prst="rect">
            <a:avLst/>
          </a:prstGeom>
          <a:noFill/>
          <a:ln/>
        </p:spPr>
        <p:txBody>
          <a:bodyPr wrap="square" lIns="0" tIns="0" rIns="0" bIns="0" rtlCol="0" anchor="t"/>
          <a:lstStyle/>
          <a:p>
            <a:pPr indent="0" marL="0">
              <a:buNone/>
            </a:pPr>
            <a:r>
              <a:rPr lang="en-US" sz="3800" b="1" dirty="0">
                <a:solidFill>
                  <a:srgbClr val="E9EEF8"/>
                </a:solidFill>
                <a:latin typeface="Cambria" pitchFamily="34" charset="0"/>
                <a:ea typeface="Cambria" pitchFamily="34" charset="-122"/>
                <a:cs typeface="Cambria" pitchFamily="34" charset="-120"/>
              </a:rPr>
              <a:t>The constraint isn't detection. It's capacity.</a:t>
            </a:r>
            <a:endParaRPr lang="en-US" sz="3800" dirty="0"/>
          </a:p>
        </p:txBody>
      </p:sp>
      <p:sp>
        <p:nvSpPr>
          <p:cNvPr id="4" name="Shape 2"/>
          <p:cNvSpPr/>
          <p:nvPr/>
        </p:nvSpPr>
        <p:spPr>
          <a:xfrm>
            <a:off x="685800" y="1965960"/>
            <a:ext cx="4160520" cy="3520440"/>
          </a:xfrm>
          <a:prstGeom prst="roundRect">
            <a:avLst>
              <a:gd name="adj" fmla="val 3117"/>
            </a:avLst>
          </a:prstGeom>
          <a:solidFill>
            <a:srgbClr val="1B2740"/>
          </a:solidFill>
          <a:ln/>
        </p:spPr>
      </p:sp>
      <p:sp>
        <p:nvSpPr>
          <p:cNvPr id="5" name="Text 3"/>
          <p:cNvSpPr/>
          <p:nvPr/>
        </p:nvSpPr>
        <p:spPr>
          <a:xfrm>
            <a:off x="1097280" y="2514600"/>
            <a:ext cx="3383280" cy="1371600"/>
          </a:xfrm>
          <a:prstGeom prst="rect">
            <a:avLst/>
          </a:prstGeom>
          <a:noFill/>
          <a:ln/>
        </p:spPr>
        <p:txBody>
          <a:bodyPr wrap="square" lIns="0" tIns="0" rIns="0" bIns="0" rtlCol="0" anchor="ctr"/>
          <a:lstStyle/>
          <a:p>
            <a:pPr indent="0" marL="0">
              <a:buNone/>
            </a:pPr>
            <a:r>
              <a:rPr lang="en-US" sz="9400" b="1" dirty="0">
                <a:solidFill>
                  <a:srgbClr val="FF6B5B"/>
                </a:solidFill>
                <a:latin typeface="Cambria" pitchFamily="34" charset="0"/>
                <a:ea typeface="Cambria" pitchFamily="34" charset="-122"/>
                <a:cs typeface="Cambria" pitchFamily="34" charset="-120"/>
              </a:rPr>
              <a:t>~1%</a:t>
            </a:r>
            <a:endParaRPr lang="en-US" sz="9400" dirty="0"/>
          </a:p>
        </p:txBody>
      </p:sp>
      <p:sp>
        <p:nvSpPr>
          <p:cNvPr id="6" name="Text 4"/>
          <p:cNvSpPr/>
          <p:nvPr/>
        </p:nvSpPr>
        <p:spPr>
          <a:xfrm>
            <a:off x="1097280" y="3977640"/>
            <a:ext cx="3383280" cy="1097280"/>
          </a:xfrm>
          <a:prstGeom prst="rect">
            <a:avLst/>
          </a:prstGeom>
          <a:noFill/>
          <a:ln/>
        </p:spPr>
        <p:txBody>
          <a:bodyPr wrap="square" lIns="0" tIns="0" rIns="0" bIns="0" rtlCol="0" anchor="ctr"/>
          <a:lstStyle/>
          <a:p>
            <a:pPr indent="0" marL="0">
              <a:lnSpc>
                <a:spcPts val="2400"/>
              </a:lnSpc>
              <a:buNone/>
            </a:pPr>
            <a:r>
              <a:rPr lang="en-US" sz="1700" dirty="0">
                <a:solidFill>
                  <a:srgbClr val="93A9CC"/>
                </a:solidFill>
                <a:latin typeface="Calibri" pitchFamily="34" charset="0"/>
                <a:ea typeface="Calibri" pitchFamily="34" charset="-122"/>
                <a:cs typeface="Calibri" pitchFamily="34" charset="-120"/>
              </a:rPr>
              <a:t>of the daily stream is all a fixed review team can realistically read.</a:t>
            </a:r>
            <a:endParaRPr lang="en-US" sz="1700" dirty="0"/>
          </a:p>
        </p:txBody>
      </p:sp>
      <p:sp>
        <p:nvSpPr>
          <p:cNvPr id="7" name="Shape 5"/>
          <p:cNvSpPr/>
          <p:nvPr/>
        </p:nvSpPr>
        <p:spPr>
          <a:xfrm>
            <a:off x="5394960" y="2203704"/>
            <a:ext cx="274320" cy="274320"/>
          </a:xfrm>
          <a:prstGeom prst="ellipse">
            <a:avLst/>
          </a:prstGeom>
          <a:solidFill>
            <a:srgbClr val="2E4166"/>
          </a:solidFill>
          <a:ln/>
        </p:spPr>
      </p:sp>
      <p:sp>
        <p:nvSpPr>
          <p:cNvPr id="8" name="Text 6"/>
          <p:cNvSpPr/>
          <p:nvPr/>
        </p:nvSpPr>
        <p:spPr>
          <a:xfrm>
            <a:off x="5870448" y="2148840"/>
            <a:ext cx="5486400" cy="347472"/>
          </a:xfrm>
          <a:prstGeom prst="rect">
            <a:avLst/>
          </a:prstGeom>
          <a:noFill/>
          <a:ln/>
        </p:spPr>
        <p:txBody>
          <a:bodyPr wrap="square" lIns="0" tIns="0" rIns="0" bIns="0" rtlCol="0" anchor="ctr"/>
          <a:lstStyle/>
          <a:p>
            <a:pPr indent="0" marL="0">
              <a:buNone/>
            </a:pPr>
            <a:r>
              <a:rPr lang="en-US" sz="1800" b="1" dirty="0">
                <a:solidFill>
                  <a:srgbClr val="E9EEF8"/>
                </a:solidFill>
                <a:latin typeface="Calibri" pitchFamily="34" charset="0"/>
                <a:ea typeface="Calibri" pitchFamily="34" charset="-122"/>
                <a:cs typeface="Calibri" pitchFamily="34" charset="-120"/>
              </a:rPr>
              <a:t>You can't review everything.</a:t>
            </a:r>
            <a:endParaRPr lang="en-US" sz="1800" dirty="0"/>
          </a:p>
        </p:txBody>
      </p:sp>
      <p:sp>
        <p:nvSpPr>
          <p:cNvPr id="9" name="Text 7"/>
          <p:cNvSpPr/>
          <p:nvPr/>
        </p:nvSpPr>
        <p:spPr>
          <a:xfrm>
            <a:off x="5870448" y="2496312"/>
            <a:ext cx="5486400" cy="457200"/>
          </a:xfrm>
          <a:prstGeom prst="rect">
            <a:avLst/>
          </a:prstGeom>
          <a:noFill/>
          <a:ln/>
        </p:spPr>
        <p:txBody>
          <a:bodyPr wrap="square" lIns="0" tIns="0" rIns="0" bIns="0" rtlCol="0" anchor="ctr"/>
          <a:lstStyle/>
          <a:p>
            <a:pPr indent="0" marL="0">
              <a:buNone/>
            </a:pPr>
            <a:r>
              <a:rPr lang="en-US" sz="1450" dirty="0">
                <a:solidFill>
                  <a:srgbClr val="93A9CC"/>
                </a:solidFill>
                <a:latin typeface="Calibri" pitchFamily="34" charset="0"/>
                <a:ea typeface="Calibri" pitchFamily="34" charset="-122"/>
                <a:cs typeface="Calibri" pitchFamily="34" charset="-120"/>
              </a:rPr>
              <a:t>The volume beats any headcount you can hire.</a:t>
            </a:r>
            <a:endParaRPr lang="en-US" sz="1450" dirty="0"/>
          </a:p>
        </p:txBody>
      </p:sp>
      <p:sp>
        <p:nvSpPr>
          <p:cNvPr id="10" name="Shape 8"/>
          <p:cNvSpPr/>
          <p:nvPr/>
        </p:nvSpPr>
        <p:spPr>
          <a:xfrm>
            <a:off x="5394960" y="3374136"/>
            <a:ext cx="274320" cy="274320"/>
          </a:xfrm>
          <a:prstGeom prst="ellipse">
            <a:avLst/>
          </a:prstGeom>
          <a:solidFill>
            <a:srgbClr val="2E4166"/>
          </a:solidFill>
          <a:ln/>
        </p:spPr>
      </p:sp>
      <p:sp>
        <p:nvSpPr>
          <p:cNvPr id="11" name="Text 9"/>
          <p:cNvSpPr/>
          <p:nvPr/>
        </p:nvSpPr>
        <p:spPr>
          <a:xfrm>
            <a:off x="5870448" y="3319272"/>
            <a:ext cx="5486400" cy="347472"/>
          </a:xfrm>
          <a:prstGeom prst="rect">
            <a:avLst/>
          </a:prstGeom>
          <a:noFill/>
          <a:ln/>
        </p:spPr>
        <p:txBody>
          <a:bodyPr wrap="square" lIns="0" tIns="0" rIns="0" bIns="0" rtlCol="0" anchor="ctr"/>
          <a:lstStyle/>
          <a:p>
            <a:pPr indent="0" marL="0">
              <a:buNone/>
            </a:pPr>
            <a:r>
              <a:rPr lang="en-US" sz="1800" b="1" dirty="0">
                <a:solidFill>
                  <a:srgbClr val="E9EEF8"/>
                </a:solidFill>
                <a:latin typeface="Calibri" pitchFamily="34" charset="0"/>
                <a:ea typeface="Calibri" pitchFamily="34" charset="-122"/>
                <a:cs typeface="Calibri" pitchFamily="34" charset="-120"/>
              </a:rPr>
              <a:t>You can't delete automatically.</a:t>
            </a:r>
            <a:endParaRPr lang="en-US" sz="1800" dirty="0"/>
          </a:p>
        </p:txBody>
      </p:sp>
      <p:sp>
        <p:nvSpPr>
          <p:cNvPr id="12" name="Text 10"/>
          <p:cNvSpPr/>
          <p:nvPr/>
        </p:nvSpPr>
        <p:spPr>
          <a:xfrm>
            <a:off x="5870448" y="3666744"/>
            <a:ext cx="5486400" cy="457200"/>
          </a:xfrm>
          <a:prstGeom prst="rect">
            <a:avLst/>
          </a:prstGeom>
          <a:noFill/>
          <a:ln/>
        </p:spPr>
        <p:txBody>
          <a:bodyPr wrap="square" lIns="0" tIns="0" rIns="0" bIns="0" rtlCol="0" anchor="ctr"/>
          <a:lstStyle/>
          <a:p>
            <a:pPr indent="0" marL="0">
              <a:buNone/>
            </a:pPr>
            <a:r>
              <a:rPr lang="en-US" sz="1450" dirty="0">
                <a:solidFill>
                  <a:srgbClr val="93A9CC"/>
                </a:solidFill>
                <a:latin typeface="Calibri" pitchFamily="34" charset="0"/>
                <a:ea typeface="Calibri" pitchFamily="34" charset="-122"/>
                <a:cs typeface="Calibri" pitchFamily="34" charset="-120"/>
              </a:rPr>
              <a:t>Get it wrong and you have silenced ordinary people.</a:t>
            </a:r>
            <a:endParaRPr lang="en-US" sz="1450" dirty="0"/>
          </a:p>
        </p:txBody>
      </p:sp>
      <p:sp>
        <p:nvSpPr>
          <p:cNvPr id="13" name="Shape 11"/>
          <p:cNvSpPr/>
          <p:nvPr/>
        </p:nvSpPr>
        <p:spPr>
          <a:xfrm>
            <a:off x="5394960" y="4544568"/>
            <a:ext cx="274320" cy="274320"/>
          </a:xfrm>
          <a:prstGeom prst="ellipse">
            <a:avLst/>
          </a:prstGeom>
          <a:solidFill>
            <a:srgbClr val="FF6B5B"/>
          </a:solidFill>
          <a:ln/>
        </p:spPr>
      </p:sp>
      <p:sp>
        <p:nvSpPr>
          <p:cNvPr id="14" name="Text 12"/>
          <p:cNvSpPr/>
          <p:nvPr/>
        </p:nvSpPr>
        <p:spPr>
          <a:xfrm>
            <a:off x="5870448" y="4489704"/>
            <a:ext cx="5486400" cy="347472"/>
          </a:xfrm>
          <a:prstGeom prst="rect">
            <a:avLst/>
          </a:prstGeom>
          <a:noFill/>
          <a:ln/>
        </p:spPr>
        <p:txBody>
          <a:bodyPr wrap="square" lIns="0" tIns="0" rIns="0" bIns="0" rtlCol="0" anchor="ctr"/>
          <a:lstStyle/>
          <a:p>
            <a:pPr indent="0" marL="0">
              <a:buNone/>
            </a:pPr>
            <a:r>
              <a:rPr lang="en-US" sz="1800" b="1" dirty="0">
                <a:solidFill>
                  <a:srgbClr val="E9EEF8"/>
                </a:solidFill>
                <a:latin typeface="Calibri" pitchFamily="34" charset="0"/>
                <a:ea typeface="Calibri" pitchFamily="34" charset="-122"/>
                <a:cs typeface="Calibri" pitchFamily="34" charset="-120"/>
              </a:rPr>
              <a:t>So the real question is triage.</a:t>
            </a:r>
            <a:endParaRPr lang="en-US" sz="1800" dirty="0"/>
          </a:p>
        </p:txBody>
      </p:sp>
      <p:sp>
        <p:nvSpPr>
          <p:cNvPr id="15" name="Text 13"/>
          <p:cNvSpPr/>
          <p:nvPr/>
        </p:nvSpPr>
        <p:spPr>
          <a:xfrm>
            <a:off x="5870448" y="4837176"/>
            <a:ext cx="5486400" cy="457200"/>
          </a:xfrm>
          <a:prstGeom prst="rect">
            <a:avLst/>
          </a:prstGeom>
          <a:noFill/>
          <a:ln/>
        </p:spPr>
        <p:txBody>
          <a:bodyPr wrap="square" lIns="0" tIns="0" rIns="0" bIns="0" rtlCol="0" anchor="ctr"/>
          <a:lstStyle/>
          <a:p>
            <a:pPr indent="0" marL="0">
              <a:buNone/>
            </a:pPr>
            <a:r>
              <a:rPr lang="en-US" sz="1450" dirty="0">
                <a:solidFill>
                  <a:srgbClr val="93A9CC"/>
                </a:solidFill>
                <a:latin typeface="Calibri" pitchFamily="34" charset="0"/>
                <a:ea typeface="Calibri" pitchFamily="34" charset="-122"/>
                <a:cs typeface="Calibri" pitchFamily="34" charset="-120"/>
              </a:rPr>
              <a:t>Of everything that arrived today, what does a human see first?</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685800" y="274320"/>
            <a:ext cx="10820095" cy="274320"/>
          </a:xfrm>
          <a:prstGeom prst="rect">
            <a:avLst/>
          </a:prstGeom>
          <a:noFill/>
          <a:ln/>
        </p:spPr>
        <p:txBody>
          <a:bodyPr wrap="square" lIns="0" tIns="0" rIns="0" bIns="0" rtlCol="0" anchor="ctr"/>
          <a:lstStyle/>
          <a:p>
            <a:pPr indent="0" marL="0">
              <a:buNone/>
            </a:pPr>
            <a:r>
              <a:rPr lang="en-US" sz="1200" b="1" spc="220" kern="0" dirty="0">
                <a:solidFill>
                  <a:srgbClr val="FF6B5B"/>
                </a:solidFill>
                <a:latin typeface="Calibri" pitchFamily="34" charset="0"/>
                <a:ea typeface="Calibri" pitchFamily="34" charset="-122"/>
                <a:cs typeface="Calibri" pitchFamily="34" charset="-120"/>
              </a:rPr>
              <a:t>THE SETUP</a:t>
            </a:r>
            <a:endParaRPr lang="en-US" sz="1200" dirty="0"/>
          </a:p>
        </p:txBody>
      </p:sp>
      <p:sp>
        <p:nvSpPr>
          <p:cNvPr id="3" name="Text 1"/>
          <p:cNvSpPr/>
          <p:nvPr/>
        </p:nvSpPr>
        <p:spPr>
          <a:xfrm>
            <a:off x="685800" y="566928"/>
            <a:ext cx="10820095" cy="868680"/>
          </a:xfrm>
          <a:prstGeom prst="rect">
            <a:avLst/>
          </a:prstGeom>
          <a:noFill/>
          <a:ln/>
        </p:spPr>
        <p:txBody>
          <a:bodyPr wrap="square" lIns="0" tIns="0" rIns="0" bIns="0" rtlCol="0" anchor="t"/>
          <a:lstStyle/>
          <a:p>
            <a:pPr indent="0" marL="0">
              <a:buNone/>
            </a:pPr>
            <a:r>
              <a:rPr lang="en-US" sz="3800" b="1" dirty="0">
                <a:solidFill>
                  <a:srgbClr val="E9EEF8"/>
                </a:solidFill>
                <a:latin typeface="Cambria" pitchFamily="34" charset="0"/>
                <a:ea typeface="Cambria" pitchFamily="34" charset="-122"/>
                <a:cs typeface="Cambria" pitchFamily="34" charset="-120"/>
              </a:rPr>
              <a:t>What I tested, and what I assumed</a:t>
            </a:r>
            <a:endParaRPr lang="en-US" sz="3800" dirty="0"/>
          </a:p>
        </p:txBody>
      </p:sp>
      <p:sp>
        <p:nvSpPr>
          <p:cNvPr id="4" name="Shape 2"/>
          <p:cNvSpPr/>
          <p:nvPr/>
        </p:nvSpPr>
        <p:spPr>
          <a:xfrm>
            <a:off x="685800" y="1828800"/>
            <a:ext cx="566928" cy="566928"/>
          </a:xfrm>
          <a:prstGeom prst="ellipse">
            <a:avLst/>
          </a:prstGeom>
          <a:solidFill>
            <a:srgbClr val="1B2740"/>
          </a:solidFill>
          <a:ln w="12700">
            <a:solidFill>
              <a:srgbClr val="31456B"/>
            </a:solidFill>
            <a:prstDash val="solid"/>
          </a:ln>
        </p:spPr>
      </p:sp>
      <p:sp>
        <p:nvSpPr>
          <p:cNvPr id="5" name="Text 3"/>
          <p:cNvSpPr/>
          <p:nvPr/>
        </p:nvSpPr>
        <p:spPr>
          <a:xfrm>
            <a:off x="685800" y="1883664"/>
            <a:ext cx="566928" cy="457200"/>
          </a:xfrm>
          <a:prstGeom prst="rect">
            <a:avLst/>
          </a:prstGeom>
          <a:noFill/>
          <a:ln/>
        </p:spPr>
        <p:txBody>
          <a:bodyPr wrap="square" lIns="0" tIns="0" rIns="0" bIns="0" rtlCol="0" anchor="ctr"/>
          <a:lstStyle/>
          <a:p>
            <a:pPr algn="ctr" indent="0" marL="0">
              <a:buNone/>
            </a:pPr>
            <a:r>
              <a:rPr lang="en-US" sz="2600" b="1" dirty="0">
                <a:solidFill>
                  <a:srgbClr val="FF6B5B"/>
                </a:solidFill>
                <a:latin typeface="Cambria" pitchFamily="34" charset="0"/>
                <a:ea typeface="Cambria" pitchFamily="34" charset="-122"/>
                <a:cs typeface="Cambria" pitchFamily="34" charset="-120"/>
              </a:rPr>
              <a:t>2</a:t>
            </a:r>
            <a:endParaRPr lang="en-US" sz="2600" dirty="0"/>
          </a:p>
        </p:txBody>
      </p:sp>
      <p:sp>
        <p:nvSpPr>
          <p:cNvPr id="6" name="Text 4"/>
          <p:cNvSpPr/>
          <p:nvPr/>
        </p:nvSpPr>
        <p:spPr>
          <a:xfrm>
            <a:off x="1554480" y="1810512"/>
            <a:ext cx="6583680" cy="365760"/>
          </a:xfrm>
          <a:prstGeom prst="rect">
            <a:avLst/>
          </a:prstGeom>
          <a:noFill/>
          <a:ln/>
        </p:spPr>
        <p:txBody>
          <a:bodyPr wrap="square" lIns="0" tIns="0" rIns="0" bIns="0" rtlCol="0" anchor="ctr"/>
          <a:lstStyle/>
          <a:p>
            <a:pPr indent="0" marL="0">
              <a:buNone/>
            </a:pPr>
            <a:r>
              <a:rPr lang="en-US" sz="1900" b="1" dirty="0">
                <a:solidFill>
                  <a:srgbClr val="E9EEF8"/>
                </a:solidFill>
                <a:latin typeface="Calibri" pitchFamily="34" charset="0"/>
                <a:ea typeface="Calibri" pitchFamily="34" charset="-122"/>
                <a:cs typeface="Calibri" pitchFamily="34" charset="-120"/>
              </a:rPr>
              <a:t>Two public collections of real comments</a:t>
            </a:r>
            <a:endParaRPr lang="en-US" sz="1900" dirty="0"/>
          </a:p>
        </p:txBody>
      </p:sp>
      <p:sp>
        <p:nvSpPr>
          <p:cNvPr id="7" name="Text 5"/>
          <p:cNvSpPr/>
          <p:nvPr/>
        </p:nvSpPr>
        <p:spPr>
          <a:xfrm>
            <a:off x="1554480" y="2176272"/>
            <a:ext cx="7589520" cy="566928"/>
          </a:xfrm>
          <a:prstGeom prst="rect">
            <a:avLst/>
          </a:prstGeom>
          <a:noFill/>
          <a:ln/>
        </p:spPr>
        <p:txBody>
          <a:bodyPr wrap="square" lIns="0" tIns="0" rIns="0" bIns="0" rtlCol="0" anchor="ctr"/>
          <a:lstStyle/>
          <a:p>
            <a:pPr indent="0" marL="0">
              <a:lnSpc>
                <a:spcPts val="1900"/>
              </a:lnSpc>
              <a:buNone/>
            </a:pPr>
            <a:r>
              <a:rPr lang="en-US" sz="1450" dirty="0">
                <a:solidFill>
                  <a:srgbClr val="93A9CC"/>
                </a:solidFill>
                <a:latin typeface="Calibri" pitchFamily="34" charset="0"/>
                <a:ea typeface="Calibri" pitchFamily="34" charset="-122"/>
                <a:cs typeface="Calibri" pitchFamily="34" charset="-120"/>
              </a:rPr>
              <a:t>About 25,000 posts from one platform and 160,000 from another, each already judged harmful or not by people.</a:t>
            </a:r>
            <a:endParaRPr lang="en-US" sz="1450" dirty="0"/>
          </a:p>
        </p:txBody>
      </p:sp>
      <p:sp>
        <p:nvSpPr>
          <p:cNvPr id="8" name="Shape 6"/>
          <p:cNvSpPr/>
          <p:nvPr/>
        </p:nvSpPr>
        <p:spPr>
          <a:xfrm>
            <a:off x="685800" y="2880360"/>
            <a:ext cx="566928" cy="566928"/>
          </a:xfrm>
          <a:prstGeom prst="ellipse">
            <a:avLst/>
          </a:prstGeom>
          <a:solidFill>
            <a:srgbClr val="1B2740"/>
          </a:solidFill>
          <a:ln w="12700">
            <a:solidFill>
              <a:srgbClr val="31456B"/>
            </a:solidFill>
            <a:prstDash val="solid"/>
          </a:ln>
        </p:spPr>
      </p:sp>
      <p:sp>
        <p:nvSpPr>
          <p:cNvPr id="9" name="Text 7"/>
          <p:cNvSpPr/>
          <p:nvPr/>
        </p:nvSpPr>
        <p:spPr>
          <a:xfrm>
            <a:off x="685800" y="2935224"/>
            <a:ext cx="566928" cy="457200"/>
          </a:xfrm>
          <a:prstGeom prst="rect">
            <a:avLst/>
          </a:prstGeom>
          <a:noFill/>
          <a:ln/>
        </p:spPr>
        <p:txBody>
          <a:bodyPr wrap="square" lIns="0" tIns="0" rIns="0" bIns="0" rtlCol="0" anchor="ctr"/>
          <a:lstStyle/>
          <a:p>
            <a:pPr algn="ctr" indent="0" marL="0">
              <a:buNone/>
            </a:pPr>
            <a:r>
              <a:rPr lang="en-US" sz="2600" b="1" dirty="0">
                <a:solidFill>
                  <a:srgbClr val="FF6B5B"/>
                </a:solidFill>
                <a:latin typeface="Cambria" pitchFamily="34" charset="0"/>
                <a:ea typeface="Cambria" pitchFamily="34" charset="-122"/>
                <a:cs typeface="Cambria" pitchFamily="34" charset="-120"/>
              </a:rPr>
              <a:t>2</a:t>
            </a:r>
            <a:endParaRPr lang="en-US" sz="2600" dirty="0"/>
          </a:p>
        </p:txBody>
      </p:sp>
      <p:sp>
        <p:nvSpPr>
          <p:cNvPr id="10" name="Text 8"/>
          <p:cNvSpPr/>
          <p:nvPr/>
        </p:nvSpPr>
        <p:spPr>
          <a:xfrm>
            <a:off x="1554480" y="2862072"/>
            <a:ext cx="6583680" cy="365760"/>
          </a:xfrm>
          <a:prstGeom prst="rect">
            <a:avLst/>
          </a:prstGeom>
          <a:noFill/>
          <a:ln/>
        </p:spPr>
        <p:txBody>
          <a:bodyPr wrap="square" lIns="0" tIns="0" rIns="0" bIns="0" rtlCol="0" anchor="ctr"/>
          <a:lstStyle/>
          <a:p>
            <a:pPr indent="0" marL="0">
              <a:buNone/>
            </a:pPr>
            <a:r>
              <a:rPr lang="en-US" sz="1900" b="1" dirty="0">
                <a:solidFill>
                  <a:srgbClr val="E9EEF8"/>
                </a:solidFill>
                <a:latin typeface="Calibri" pitchFamily="34" charset="0"/>
                <a:ea typeface="Calibri" pitchFamily="34" charset="-122"/>
                <a:cs typeface="Calibri" pitchFamily="34" charset="-120"/>
              </a:rPr>
              <a:t>Two automated sorting systems</a:t>
            </a:r>
            <a:endParaRPr lang="en-US" sz="1900" dirty="0"/>
          </a:p>
        </p:txBody>
      </p:sp>
      <p:sp>
        <p:nvSpPr>
          <p:cNvPr id="11" name="Text 9"/>
          <p:cNvSpPr/>
          <p:nvPr/>
        </p:nvSpPr>
        <p:spPr>
          <a:xfrm>
            <a:off x="1554480" y="3227832"/>
            <a:ext cx="7589520" cy="566928"/>
          </a:xfrm>
          <a:prstGeom prst="rect">
            <a:avLst/>
          </a:prstGeom>
          <a:noFill/>
          <a:ln/>
        </p:spPr>
        <p:txBody>
          <a:bodyPr wrap="square" lIns="0" tIns="0" rIns="0" bIns="0" rtlCol="0" anchor="ctr"/>
          <a:lstStyle/>
          <a:p>
            <a:pPr indent="0" marL="0">
              <a:lnSpc>
                <a:spcPts val="1900"/>
              </a:lnSpc>
              <a:buNone/>
            </a:pPr>
            <a:r>
              <a:rPr lang="en-US" sz="1450" dirty="0">
                <a:solidFill>
                  <a:srgbClr val="93A9CC"/>
                </a:solidFill>
                <a:latin typeface="Calibri" pitchFamily="34" charset="0"/>
                <a:ea typeface="Calibri" pitchFamily="34" charset="-122"/>
                <a:cs typeface="Calibri" pitchFamily="34" charset="-120"/>
              </a:rPr>
              <a:t>Built on different principles, both ranking content by how likely it is to break the rules.</a:t>
            </a:r>
            <a:endParaRPr lang="en-US" sz="1450" dirty="0"/>
          </a:p>
        </p:txBody>
      </p:sp>
      <p:sp>
        <p:nvSpPr>
          <p:cNvPr id="12" name="Shape 10"/>
          <p:cNvSpPr/>
          <p:nvPr/>
        </p:nvSpPr>
        <p:spPr>
          <a:xfrm>
            <a:off x="685800" y="3931920"/>
            <a:ext cx="566928" cy="566928"/>
          </a:xfrm>
          <a:prstGeom prst="ellipse">
            <a:avLst/>
          </a:prstGeom>
          <a:solidFill>
            <a:srgbClr val="1B2740"/>
          </a:solidFill>
          <a:ln w="12700">
            <a:solidFill>
              <a:srgbClr val="31456B"/>
            </a:solidFill>
            <a:prstDash val="solid"/>
          </a:ln>
        </p:spPr>
      </p:sp>
      <p:sp>
        <p:nvSpPr>
          <p:cNvPr id="13" name="Text 11"/>
          <p:cNvSpPr/>
          <p:nvPr/>
        </p:nvSpPr>
        <p:spPr>
          <a:xfrm>
            <a:off x="685800" y="3986784"/>
            <a:ext cx="566928" cy="457200"/>
          </a:xfrm>
          <a:prstGeom prst="rect">
            <a:avLst/>
          </a:prstGeom>
          <a:noFill/>
          <a:ln/>
        </p:spPr>
        <p:txBody>
          <a:bodyPr wrap="square" lIns="0" tIns="0" rIns="0" bIns="0" rtlCol="0" anchor="ctr"/>
          <a:lstStyle/>
          <a:p>
            <a:pPr algn="ctr" indent="0" marL="0">
              <a:buNone/>
            </a:pPr>
            <a:r>
              <a:rPr lang="en-US" sz="2600" b="1" dirty="0">
                <a:solidFill>
                  <a:srgbClr val="FF6B5B"/>
                </a:solidFill>
                <a:latin typeface="Cambria" pitchFamily="34" charset="0"/>
                <a:ea typeface="Cambria" pitchFamily="34" charset="-122"/>
                <a:cs typeface="Cambria" pitchFamily="34" charset="-120"/>
              </a:rPr>
              <a:t>5</a:t>
            </a:r>
            <a:endParaRPr lang="en-US" sz="2600" dirty="0"/>
          </a:p>
        </p:txBody>
      </p:sp>
      <p:sp>
        <p:nvSpPr>
          <p:cNvPr id="14" name="Text 12"/>
          <p:cNvSpPr/>
          <p:nvPr/>
        </p:nvSpPr>
        <p:spPr>
          <a:xfrm>
            <a:off x="1554480" y="3913632"/>
            <a:ext cx="6583680" cy="365760"/>
          </a:xfrm>
          <a:prstGeom prst="rect">
            <a:avLst/>
          </a:prstGeom>
          <a:noFill/>
          <a:ln/>
        </p:spPr>
        <p:txBody>
          <a:bodyPr wrap="square" lIns="0" tIns="0" rIns="0" bIns="0" rtlCol="0" anchor="ctr"/>
          <a:lstStyle/>
          <a:p>
            <a:pPr indent="0" marL="0">
              <a:buNone/>
            </a:pPr>
            <a:r>
              <a:rPr lang="en-US" sz="1900" b="1" dirty="0">
                <a:solidFill>
                  <a:srgbClr val="E9EEF8"/>
                </a:solidFill>
                <a:latin typeface="Calibri" pitchFamily="34" charset="0"/>
                <a:ea typeface="Calibri" pitchFamily="34" charset="-122"/>
                <a:cs typeface="Calibri" pitchFamily="34" charset="-120"/>
              </a:rPr>
              <a:t>Five separate tests of each</a:t>
            </a:r>
            <a:endParaRPr lang="en-US" sz="1900" dirty="0"/>
          </a:p>
        </p:txBody>
      </p:sp>
      <p:sp>
        <p:nvSpPr>
          <p:cNvPr id="15" name="Text 13"/>
          <p:cNvSpPr/>
          <p:nvPr/>
        </p:nvSpPr>
        <p:spPr>
          <a:xfrm>
            <a:off x="1554480" y="4279392"/>
            <a:ext cx="7589520" cy="566928"/>
          </a:xfrm>
          <a:prstGeom prst="rect">
            <a:avLst/>
          </a:prstGeom>
          <a:noFill/>
          <a:ln/>
        </p:spPr>
        <p:txBody>
          <a:bodyPr wrap="square" lIns="0" tIns="0" rIns="0" bIns="0" rtlCol="0" anchor="ctr"/>
          <a:lstStyle/>
          <a:p>
            <a:pPr indent="0" marL="0">
              <a:lnSpc>
                <a:spcPts val="1900"/>
              </a:lnSpc>
              <a:buNone/>
            </a:pPr>
            <a:r>
              <a:rPr lang="en-US" sz="1450" dirty="0">
                <a:solidFill>
                  <a:srgbClr val="93A9CC"/>
                </a:solidFill>
                <a:latin typeface="Calibri" pitchFamily="34" charset="0"/>
                <a:ea typeface="Calibri" pitchFamily="34" charset="-122"/>
                <a:cs typeface="Calibri" pitchFamily="34" charset="-120"/>
              </a:rPr>
              <a:t>Run on different slices of the data, so a good result can't be a fluke of one lucky sample.</a:t>
            </a:r>
            <a:endParaRPr lang="en-US" sz="1450" dirty="0"/>
          </a:p>
        </p:txBody>
      </p:sp>
      <p:sp>
        <p:nvSpPr>
          <p:cNvPr id="16" name="Shape 14"/>
          <p:cNvSpPr/>
          <p:nvPr/>
        </p:nvSpPr>
        <p:spPr>
          <a:xfrm>
            <a:off x="685800" y="5138928"/>
            <a:ext cx="10820095" cy="960120"/>
          </a:xfrm>
          <a:prstGeom prst="roundRect">
            <a:avLst>
              <a:gd name="adj" fmla="val 9524"/>
            </a:avLst>
          </a:prstGeom>
          <a:solidFill>
            <a:srgbClr val="1B2740"/>
          </a:solidFill>
          <a:ln/>
        </p:spPr>
      </p:sp>
      <p:sp>
        <p:nvSpPr>
          <p:cNvPr id="17" name="Text 15"/>
          <p:cNvSpPr/>
          <p:nvPr/>
        </p:nvSpPr>
        <p:spPr>
          <a:xfrm>
            <a:off x="1005840" y="5285232"/>
            <a:ext cx="10180015" cy="685800"/>
          </a:xfrm>
          <a:prstGeom prst="rect">
            <a:avLst/>
          </a:prstGeom>
          <a:noFill/>
          <a:ln/>
        </p:spPr>
        <p:txBody>
          <a:bodyPr wrap="square" lIns="0" tIns="0" rIns="0" bIns="0" rtlCol="0" anchor="ctr"/>
          <a:lstStyle/>
          <a:p>
            <a:pPr indent="0" marL="0">
              <a:lnSpc>
                <a:spcPts val="2000"/>
              </a:lnSpc>
              <a:buNone/>
            </a:pPr>
            <a:r>
              <a:rPr lang="en-US" sz="1400" b="1" dirty="0">
                <a:solidFill>
                  <a:srgbClr val="FF6B5B"/>
                </a:solidFill>
                <a:latin typeface="Calibri" pitchFamily="34" charset="0"/>
                <a:ea typeface="Calibri" pitchFamily="34" charset="-122"/>
                <a:cs typeface="Calibri" pitchFamily="34" charset="-120"/>
              </a:rPr>
              <a:t>Key assumption   </a:t>
            </a:r>
            <a:pPr indent="0" marL="0">
              <a:lnSpc>
                <a:spcPts val="2000"/>
              </a:lnSpc>
              <a:buNone/>
            </a:pPr>
            <a:r>
              <a:rPr lang="en-US" sz="1500" dirty="0">
                <a:solidFill>
                  <a:srgbClr val="E9EEF8"/>
                </a:solidFill>
                <a:latin typeface="Calibri" pitchFamily="34" charset="0"/>
                <a:ea typeface="Calibri" pitchFamily="34" charset="-122"/>
                <a:cs typeface="Calibri" pitchFamily="34" charset="-120"/>
              </a:rPr>
              <a:t>The machine's job is to rank, not to decide. A human still makes every call — so the cost of a wrong ranking is a wasted review, not an unjust ban.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685800" y="274320"/>
            <a:ext cx="10820095" cy="274320"/>
          </a:xfrm>
          <a:prstGeom prst="rect">
            <a:avLst/>
          </a:prstGeom>
          <a:noFill/>
          <a:ln/>
        </p:spPr>
        <p:txBody>
          <a:bodyPr wrap="square" lIns="0" tIns="0" rIns="0" bIns="0" rtlCol="0" anchor="ctr"/>
          <a:lstStyle/>
          <a:p>
            <a:pPr indent="0" marL="0">
              <a:buNone/>
            </a:pPr>
            <a:r>
              <a:rPr lang="en-US" sz="1200" b="1" spc="220" kern="0" dirty="0">
                <a:solidFill>
                  <a:srgbClr val="FF6B5B"/>
                </a:solidFill>
                <a:latin typeface="Calibri" pitchFamily="34" charset="0"/>
                <a:ea typeface="Calibri" pitchFamily="34" charset="-122"/>
                <a:cs typeface="Calibri" pitchFamily="34" charset="-120"/>
              </a:rPr>
              <a:t>FINDING 01</a:t>
            </a:r>
            <a:endParaRPr lang="en-US" sz="1200" dirty="0"/>
          </a:p>
        </p:txBody>
      </p:sp>
      <p:sp>
        <p:nvSpPr>
          <p:cNvPr id="3" name="Text 1"/>
          <p:cNvSpPr/>
          <p:nvPr/>
        </p:nvSpPr>
        <p:spPr>
          <a:xfrm>
            <a:off x="685800" y="566928"/>
            <a:ext cx="10820095" cy="868680"/>
          </a:xfrm>
          <a:prstGeom prst="rect">
            <a:avLst/>
          </a:prstGeom>
          <a:noFill/>
          <a:ln/>
        </p:spPr>
        <p:txBody>
          <a:bodyPr wrap="square" lIns="0" tIns="0" rIns="0" bIns="0" rtlCol="0" anchor="t"/>
          <a:lstStyle/>
          <a:p>
            <a:pPr indent="0" marL="0">
              <a:buNone/>
            </a:pPr>
            <a:r>
              <a:rPr lang="en-US" sz="3800" b="1" dirty="0">
                <a:solidFill>
                  <a:srgbClr val="E9EEF8"/>
                </a:solidFill>
                <a:latin typeface="Cambria" pitchFamily="34" charset="0"/>
                <a:ea typeface="Cambria" pitchFamily="34" charset="-122"/>
                <a:cs typeface="Cambria" pitchFamily="34" charset="-120"/>
              </a:rPr>
              <a:t>The obvious scoreboard lies</a:t>
            </a:r>
            <a:endParaRPr lang="en-US" sz="3800" dirty="0"/>
          </a:p>
        </p:txBody>
      </p:sp>
      <p:sp>
        <p:nvSpPr>
          <p:cNvPr id="4" name="Shape 2"/>
          <p:cNvSpPr/>
          <p:nvPr/>
        </p:nvSpPr>
        <p:spPr>
          <a:xfrm>
            <a:off x="685800" y="1828800"/>
            <a:ext cx="3794760" cy="2788920"/>
          </a:xfrm>
          <a:prstGeom prst="roundRect">
            <a:avLst>
              <a:gd name="adj" fmla="val 3934"/>
            </a:avLst>
          </a:prstGeom>
          <a:solidFill>
            <a:srgbClr val="1B2740"/>
          </a:solidFill>
          <a:ln/>
        </p:spPr>
      </p:sp>
      <p:sp>
        <p:nvSpPr>
          <p:cNvPr id="5" name="Text 3"/>
          <p:cNvSpPr/>
          <p:nvPr/>
        </p:nvSpPr>
        <p:spPr>
          <a:xfrm>
            <a:off x="1005840" y="2029968"/>
            <a:ext cx="3154680" cy="320040"/>
          </a:xfrm>
          <a:prstGeom prst="rect">
            <a:avLst/>
          </a:prstGeom>
          <a:noFill/>
          <a:ln/>
        </p:spPr>
        <p:txBody>
          <a:bodyPr wrap="square" lIns="0" tIns="0" rIns="0" bIns="0" rtlCol="0" anchor="ctr"/>
          <a:lstStyle/>
          <a:p>
            <a:pPr indent="0" marL="0">
              <a:buNone/>
            </a:pPr>
            <a:r>
              <a:rPr lang="en-US" sz="1500" b="1" dirty="0">
                <a:solidFill>
                  <a:srgbClr val="93A9CC"/>
                </a:solidFill>
                <a:latin typeface="Calibri" pitchFamily="34" charset="0"/>
                <a:ea typeface="Calibri" pitchFamily="34" charset="-122"/>
                <a:cs typeface="Calibri" pitchFamily="34" charset="-120"/>
              </a:rPr>
              <a:t>The 'better' system</a:t>
            </a:r>
            <a:endParaRPr lang="en-US" sz="1500" dirty="0"/>
          </a:p>
        </p:txBody>
      </p:sp>
      <p:sp>
        <p:nvSpPr>
          <p:cNvPr id="6" name="Text 4"/>
          <p:cNvSpPr/>
          <p:nvPr/>
        </p:nvSpPr>
        <p:spPr>
          <a:xfrm>
            <a:off x="1005840" y="2395728"/>
            <a:ext cx="3154680" cy="658368"/>
          </a:xfrm>
          <a:prstGeom prst="rect">
            <a:avLst/>
          </a:prstGeom>
          <a:noFill/>
          <a:ln/>
        </p:spPr>
        <p:txBody>
          <a:bodyPr wrap="square" lIns="0" tIns="0" rIns="0" bIns="0" rtlCol="0" anchor="ctr"/>
          <a:lstStyle/>
          <a:p>
            <a:pPr indent="0" marL="0">
              <a:buNone/>
            </a:pPr>
            <a:r>
              <a:rPr lang="en-US" sz="4000" b="1" dirty="0">
                <a:solidFill>
                  <a:srgbClr val="E9EEF8"/>
                </a:solidFill>
                <a:latin typeface="Cambria" pitchFamily="34" charset="0"/>
                <a:ea typeface="Cambria" pitchFamily="34" charset="-122"/>
                <a:cs typeface="Cambria" pitchFamily="34" charset="-120"/>
              </a:rPr>
              <a:t>94.5%</a:t>
            </a:r>
            <a:endParaRPr lang="en-US" sz="4000" dirty="0"/>
          </a:p>
        </p:txBody>
      </p:sp>
      <p:sp>
        <p:nvSpPr>
          <p:cNvPr id="7" name="Text 5"/>
          <p:cNvSpPr/>
          <p:nvPr/>
        </p:nvSpPr>
        <p:spPr>
          <a:xfrm>
            <a:off x="1005840" y="3035808"/>
            <a:ext cx="3154680" cy="274320"/>
          </a:xfrm>
          <a:prstGeom prst="rect">
            <a:avLst/>
          </a:prstGeom>
          <a:noFill/>
          <a:ln/>
        </p:spPr>
        <p:txBody>
          <a:bodyPr wrap="square" lIns="0" tIns="0" rIns="0" bIns="0" rtlCol="0" anchor="ctr"/>
          <a:lstStyle/>
          <a:p>
            <a:pPr indent="0" marL="0">
              <a:buNone/>
            </a:pPr>
            <a:r>
              <a:rPr lang="en-US" sz="1350" dirty="0">
                <a:solidFill>
                  <a:srgbClr val="93A9CC"/>
                </a:solidFill>
                <a:latin typeface="Calibri" pitchFamily="34" charset="0"/>
                <a:ea typeface="Calibri" pitchFamily="34" charset="-122"/>
                <a:cs typeface="Calibri" pitchFamily="34" charset="-120"/>
              </a:rPr>
              <a:t>accurate overall</a:t>
            </a:r>
            <a:endParaRPr lang="en-US" sz="1350" dirty="0"/>
          </a:p>
        </p:txBody>
      </p:sp>
      <p:sp>
        <p:nvSpPr>
          <p:cNvPr id="8" name="Text 6"/>
          <p:cNvSpPr/>
          <p:nvPr/>
        </p:nvSpPr>
        <p:spPr>
          <a:xfrm>
            <a:off x="1005840" y="3456432"/>
            <a:ext cx="3154680" cy="713232"/>
          </a:xfrm>
          <a:prstGeom prst="rect">
            <a:avLst/>
          </a:prstGeom>
          <a:noFill/>
          <a:ln/>
        </p:spPr>
        <p:txBody>
          <a:bodyPr wrap="square" lIns="0" tIns="0" rIns="0" bIns="0" rtlCol="0" anchor="ctr"/>
          <a:lstStyle/>
          <a:p>
            <a:pPr indent="0" marL="0">
              <a:buNone/>
            </a:pPr>
            <a:r>
              <a:rPr lang="en-US" sz="4600" b="1" dirty="0">
                <a:solidFill>
                  <a:srgbClr val="FF6B5B"/>
                </a:solidFill>
                <a:latin typeface="Cambria" pitchFamily="34" charset="0"/>
                <a:ea typeface="Cambria" pitchFamily="34" charset="-122"/>
                <a:cs typeface="Cambria" pitchFamily="34" charset="-120"/>
              </a:rPr>
              <a:t>13%</a:t>
            </a:r>
            <a:endParaRPr lang="en-US" sz="4600" dirty="0"/>
          </a:p>
        </p:txBody>
      </p:sp>
      <p:sp>
        <p:nvSpPr>
          <p:cNvPr id="9" name="Text 7"/>
          <p:cNvSpPr/>
          <p:nvPr/>
        </p:nvSpPr>
        <p:spPr>
          <a:xfrm>
            <a:off x="1005840" y="4169664"/>
            <a:ext cx="3154680" cy="292608"/>
          </a:xfrm>
          <a:prstGeom prst="rect">
            <a:avLst/>
          </a:prstGeom>
          <a:noFill/>
          <a:ln/>
        </p:spPr>
        <p:txBody>
          <a:bodyPr wrap="square" lIns="0" tIns="0" rIns="0" bIns="0" rtlCol="0" anchor="ctr"/>
          <a:lstStyle/>
          <a:p>
            <a:pPr indent="0" marL="0">
              <a:buNone/>
            </a:pPr>
            <a:r>
              <a:rPr lang="en-US" sz="1350" dirty="0">
                <a:solidFill>
                  <a:srgbClr val="93A9CC"/>
                </a:solidFill>
                <a:latin typeface="Calibri" pitchFamily="34" charset="0"/>
                <a:ea typeface="Calibri" pitchFamily="34" charset="-122"/>
                <a:cs typeface="Calibri" pitchFamily="34" charset="-120"/>
              </a:rPr>
              <a:t>of harmful posts caught</a:t>
            </a:r>
            <a:endParaRPr lang="en-US" sz="1350" dirty="0"/>
          </a:p>
        </p:txBody>
      </p:sp>
      <p:sp>
        <p:nvSpPr>
          <p:cNvPr id="10" name="Shape 8"/>
          <p:cNvSpPr/>
          <p:nvPr/>
        </p:nvSpPr>
        <p:spPr>
          <a:xfrm>
            <a:off x="4846320" y="1828800"/>
            <a:ext cx="3794760" cy="2788920"/>
          </a:xfrm>
          <a:prstGeom prst="roundRect">
            <a:avLst>
              <a:gd name="adj" fmla="val 3934"/>
            </a:avLst>
          </a:prstGeom>
          <a:solidFill>
            <a:srgbClr val="1B2740"/>
          </a:solidFill>
          <a:ln/>
        </p:spPr>
      </p:sp>
      <p:sp>
        <p:nvSpPr>
          <p:cNvPr id="11" name="Text 9"/>
          <p:cNvSpPr/>
          <p:nvPr/>
        </p:nvSpPr>
        <p:spPr>
          <a:xfrm>
            <a:off x="5166360" y="2029968"/>
            <a:ext cx="3154680" cy="320040"/>
          </a:xfrm>
          <a:prstGeom prst="rect">
            <a:avLst/>
          </a:prstGeom>
          <a:noFill/>
          <a:ln/>
        </p:spPr>
        <p:txBody>
          <a:bodyPr wrap="square" lIns="0" tIns="0" rIns="0" bIns="0" rtlCol="0" anchor="ctr"/>
          <a:lstStyle/>
          <a:p>
            <a:pPr indent="0" marL="0">
              <a:buNone/>
            </a:pPr>
            <a:r>
              <a:rPr lang="en-US" sz="1500" b="1" dirty="0">
                <a:solidFill>
                  <a:srgbClr val="93A9CC"/>
                </a:solidFill>
                <a:latin typeface="Calibri" pitchFamily="34" charset="0"/>
                <a:ea typeface="Calibri" pitchFamily="34" charset="-122"/>
                <a:cs typeface="Calibri" pitchFamily="34" charset="-120"/>
              </a:rPr>
              <a:t>The simpler system</a:t>
            </a:r>
            <a:endParaRPr lang="en-US" sz="1500" dirty="0"/>
          </a:p>
        </p:txBody>
      </p:sp>
      <p:sp>
        <p:nvSpPr>
          <p:cNvPr id="12" name="Text 10"/>
          <p:cNvSpPr/>
          <p:nvPr/>
        </p:nvSpPr>
        <p:spPr>
          <a:xfrm>
            <a:off x="5166360" y="2395728"/>
            <a:ext cx="3154680" cy="658368"/>
          </a:xfrm>
          <a:prstGeom prst="rect">
            <a:avLst/>
          </a:prstGeom>
          <a:noFill/>
          <a:ln/>
        </p:spPr>
        <p:txBody>
          <a:bodyPr wrap="square" lIns="0" tIns="0" rIns="0" bIns="0" rtlCol="0" anchor="ctr"/>
          <a:lstStyle/>
          <a:p>
            <a:pPr indent="0" marL="0">
              <a:buNone/>
            </a:pPr>
            <a:r>
              <a:rPr lang="en-US" sz="4000" b="1" dirty="0">
                <a:solidFill>
                  <a:srgbClr val="E9EEF8"/>
                </a:solidFill>
                <a:latin typeface="Cambria" pitchFamily="34" charset="0"/>
                <a:ea typeface="Cambria" pitchFamily="34" charset="-122"/>
                <a:cs typeface="Cambria" pitchFamily="34" charset="-120"/>
              </a:rPr>
              <a:t>92.2%</a:t>
            </a:r>
            <a:endParaRPr lang="en-US" sz="4000" dirty="0"/>
          </a:p>
        </p:txBody>
      </p:sp>
      <p:sp>
        <p:nvSpPr>
          <p:cNvPr id="13" name="Text 11"/>
          <p:cNvSpPr/>
          <p:nvPr/>
        </p:nvSpPr>
        <p:spPr>
          <a:xfrm>
            <a:off x="5166360" y="3035808"/>
            <a:ext cx="3154680" cy="274320"/>
          </a:xfrm>
          <a:prstGeom prst="rect">
            <a:avLst/>
          </a:prstGeom>
          <a:noFill/>
          <a:ln/>
        </p:spPr>
        <p:txBody>
          <a:bodyPr wrap="square" lIns="0" tIns="0" rIns="0" bIns="0" rtlCol="0" anchor="ctr"/>
          <a:lstStyle/>
          <a:p>
            <a:pPr indent="0" marL="0">
              <a:buNone/>
            </a:pPr>
            <a:r>
              <a:rPr lang="en-US" sz="1350" dirty="0">
                <a:solidFill>
                  <a:srgbClr val="93A9CC"/>
                </a:solidFill>
                <a:latin typeface="Calibri" pitchFamily="34" charset="0"/>
                <a:ea typeface="Calibri" pitchFamily="34" charset="-122"/>
                <a:cs typeface="Calibri" pitchFamily="34" charset="-120"/>
              </a:rPr>
              <a:t>accurate overall</a:t>
            </a:r>
            <a:endParaRPr lang="en-US" sz="1350" dirty="0"/>
          </a:p>
        </p:txBody>
      </p:sp>
      <p:sp>
        <p:nvSpPr>
          <p:cNvPr id="14" name="Text 12"/>
          <p:cNvSpPr/>
          <p:nvPr/>
        </p:nvSpPr>
        <p:spPr>
          <a:xfrm>
            <a:off x="5166360" y="3456432"/>
            <a:ext cx="3154680" cy="713232"/>
          </a:xfrm>
          <a:prstGeom prst="rect">
            <a:avLst/>
          </a:prstGeom>
          <a:noFill/>
          <a:ln/>
        </p:spPr>
        <p:txBody>
          <a:bodyPr wrap="square" lIns="0" tIns="0" rIns="0" bIns="0" rtlCol="0" anchor="ctr"/>
          <a:lstStyle/>
          <a:p>
            <a:pPr indent="0" marL="0">
              <a:buNone/>
            </a:pPr>
            <a:r>
              <a:rPr lang="en-US" sz="4600" b="1" dirty="0">
                <a:solidFill>
                  <a:srgbClr val="6EA8FF"/>
                </a:solidFill>
                <a:latin typeface="Cambria" pitchFamily="34" charset="0"/>
                <a:ea typeface="Cambria" pitchFamily="34" charset="-122"/>
                <a:cs typeface="Cambria" pitchFamily="34" charset="-120"/>
              </a:rPr>
              <a:t>41%</a:t>
            </a:r>
            <a:endParaRPr lang="en-US" sz="4600" dirty="0"/>
          </a:p>
        </p:txBody>
      </p:sp>
      <p:sp>
        <p:nvSpPr>
          <p:cNvPr id="15" name="Text 13"/>
          <p:cNvSpPr/>
          <p:nvPr/>
        </p:nvSpPr>
        <p:spPr>
          <a:xfrm>
            <a:off x="5166360" y="4169664"/>
            <a:ext cx="3154680" cy="292608"/>
          </a:xfrm>
          <a:prstGeom prst="rect">
            <a:avLst/>
          </a:prstGeom>
          <a:noFill/>
          <a:ln/>
        </p:spPr>
        <p:txBody>
          <a:bodyPr wrap="square" lIns="0" tIns="0" rIns="0" bIns="0" rtlCol="0" anchor="ctr"/>
          <a:lstStyle/>
          <a:p>
            <a:pPr indent="0" marL="0">
              <a:buNone/>
            </a:pPr>
            <a:r>
              <a:rPr lang="en-US" sz="1350" dirty="0">
                <a:solidFill>
                  <a:srgbClr val="93A9CC"/>
                </a:solidFill>
                <a:latin typeface="Calibri" pitchFamily="34" charset="0"/>
                <a:ea typeface="Calibri" pitchFamily="34" charset="-122"/>
                <a:cs typeface="Calibri" pitchFamily="34" charset="-120"/>
              </a:rPr>
              <a:t>of harmful posts caught</a:t>
            </a:r>
            <a:endParaRPr lang="en-US" sz="1350" dirty="0"/>
          </a:p>
        </p:txBody>
      </p:sp>
      <p:sp>
        <p:nvSpPr>
          <p:cNvPr id="16" name="Shape 14"/>
          <p:cNvSpPr/>
          <p:nvPr/>
        </p:nvSpPr>
        <p:spPr>
          <a:xfrm>
            <a:off x="8686800" y="1828800"/>
            <a:ext cx="2816352" cy="2788920"/>
          </a:xfrm>
          <a:prstGeom prst="roundRect">
            <a:avLst>
              <a:gd name="adj" fmla="val 3934"/>
            </a:avLst>
          </a:prstGeom>
          <a:solidFill>
            <a:srgbClr val="FF6B5B"/>
          </a:solidFill>
          <a:ln/>
        </p:spPr>
      </p:sp>
      <p:sp>
        <p:nvSpPr>
          <p:cNvPr id="17" name="Text 15"/>
          <p:cNvSpPr/>
          <p:nvPr/>
        </p:nvSpPr>
        <p:spPr>
          <a:xfrm>
            <a:off x="8979408" y="2148840"/>
            <a:ext cx="2240280" cy="1554480"/>
          </a:xfrm>
          <a:prstGeom prst="rect">
            <a:avLst/>
          </a:prstGeom>
          <a:noFill/>
          <a:ln/>
        </p:spPr>
        <p:txBody>
          <a:bodyPr wrap="square" lIns="0" tIns="0" rIns="0" bIns="0" rtlCol="0" anchor="ctr"/>
          <a:lstStyle/>
          <a:p>
            <a:pPr indent="0" marL="0">
              <a:lnSpc>
                <a:spcPts val="3000"/>
              </a:lnSpc>
              <a:buNone/>
            </a:pPr>
            <a:r>
              <a:rPr lang="en-US" sz="2500" b="1" dirty="0">
                <a:solidFill>
                  <a:srgbClr val="2A0D08"/>
                </a:solidFill>
                <a:latin typeface="Cambria" pitchFamily="34" charset="0"/>
                <a:ea typeface="Cambria" pitchFamily="34" charset="-122"/>
                <a:cs typeface="Cambria" pitchFamily="34" charset="-120"/>
              </a:rPr>
              <a:t>Flag nothing at all and you still score 94%.</a:t>
            </a:r>
            <a:endParaRPr lang="en-US" sz="2500" dirty="0"/>
          </a:p>
        </p:txBody>
      </p:sp>
      <p:sp>
        <p:nvSpPr>
          <p:cNvPr id="18" name="Text 16"/>
          <p:cNvSpPr/>
          <p:nvPr/>
        </p:nvSpPr>
        <p:spPr>
          <a:xfrm>
            <a:off x="8979408" y="3794760"/>
            <a:ext cx="2240280" cy="685800"/>
          </a:xfrm>
          <a:prstGeom prst="rect">
            <a:avLst/>
          </a:prstGeom>
          <a:noFill/>
          <a:ln/>
        </p:spPr>
        <p:txBody>
          <a:bodyPr wrap="square" lIns="0" tIns="0" rIns="0" bIns="0" rtlCol="0" anchor="ctr"/>
          <a:lstStyle/>
          <a:p>
            <a:pPr indent="0" marL="0">
              <a:lnSpc>
                <a:spcPts val="1800"/>
              </a:lnSpc>
              <a:buNone/>
            </a:pPr>
            <a:r>
              <a:rPr lang="en-US" sz="1350" dirty="0">
                <a:solidFill>
                  <a:srgbClr val="4A1A10"/>
                </a:solidFill>
                <a:latin typeface="Calibri" pitchFamily="34" charset="0"/>
                <a:ea typeface="Calibri" pitchFamily="34" charset="-122"/>
                <a:cs typeface="Calibri" pitchFamily="34" charset="-120"/>
              </a:rPr>
              <a:t>Harmful content is under 6% of the data.</a:t>
            </a:r>
            <a:endParaRPr lang="en-US" sz="1350" dirty="0"/>
          </a:p>
        </p:txBody>
      </p:sp>
      <p:sp>
        <p:nvSpPr>
          <p:cNvPr id="19" name="Text 17"/>
          <p:cNvSpPr/>
          <p:nvPr/>
        </p:nvSpPr>
        <p:spPr>
          <a:xfrm>
            <a:off x="685800" y="5029200"/>
            <a:ext cx="10820095" cy="457200"/>
          </a:xfrm>
          <a:prstGeom prst="rect">
            <a:avLst/>
          </a:prstGeom>
          <a:noFill/>
          <a:ln/>
        </p:spPr>
        <p:txBody>
          <a:bodyPr wrap="square" lIns="0" tIns="0" rIns="0" bIns="0" rtlCol="0" anchor="ctr"/>
          <a:lstStyle/>
          <a:p>
            <a:pPr indent="0" marL="0">
              <a:buNone/>
            </a:pPr>
            <a:r>
              <a:rPr lang="en-US" sz="1700" i="1" dirty="0">
                <a:solidFill>
                  <a:srgbClr val="93A9CC"/>
                </a:solidFill>
                <a:latin typeface="Calibri" pitchFamily="34" charset="0"/>
                <a:ea typeface="Calibri" pitchFamily="34" charset="-122"/>
                <a:cs typeface="Calibri" pitchFamily="34" charset="-120"/>
              </a:rPr>
              <a:t>Accuracy rewards a system for being quiet. We need one that is right when it speaks.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685800" y="274320"/>
            <a:ext cx="10820095" cy="274320"/>
          </a:xfrm>
          <a:prstGeom prst="rect">
            <a:avLst/>
          </a:prstGeom>
          <a:noFill/>
          <a:ln/>
        </p:spPr>
        <p:txBody>
          <a:bodyPr wrap="square" lIns="0" tIns="0" rIns="0" bIns="0" rtlCol="0" anchor="ctr"/>
          <a:lstStyle/>
          <a:p>
            <a:pPr indent="0" marL="0">
              <a:buNone/>
            </a:pPr>
            <a:r>
              <a:rPr lang="en-US" sz="1200" b="1" spc="220" kern="0" dirty="0">
                <a:solidFill>
                  <a:srgbClr val="FF6B5B"/>
                </a:solidFill>
                <a:latin typeface="Calibri" pitchFamily="34" charset="0"/>
                <a:ea typeface="Calibri" pitchFamily="34" charset="-122"/>
                <a:cs typeface="Calibri" pitchFamily="34" charset="-120"/>
              </a:rPr>
              <a:t>FINDING 02</a:t>
            </a:r>
            <a:endParaRPr lang="en-US" sz="1200" dirty="0"/>
          </a:p>
        </p:txBody>
      </p:sp>
      <p:sp>
        <p:nvSpPr>
          <p:cNvPr id="3" name="Text 1"/>
          <p:cNvSpPr/>
          <p:nvPr/>
        </p:nvSpPr>
        <p:spPr>
          <a:xfrm>
            <a:off x="685800" y="566928"/>
            <a:ext cx="10820095" cy="868680"/>
          </a:xfrm>
          <a:prstGeom prst="rect">
            <a:avLst/>
          </a:prstGeom>
          <a:noFill/>
          <a:ln/>
        </p:spPr>
        <p:txBody>
          <a:bodyPr wrap="square" lIns="0" tIns="0" rIns="0" bIns="0" rtlCol="0" anchor="t"/>
          <a:lstStyle/>
          <a:p>
            <a:pPr indent="0" marL="0">
              <a:buNone/>
            </a:pPr>
            <a:r>
              <a:rPr lang="en-US" sz="3800" b="1" dirty="0">
                <a:solidFill>
                  <a:srgbClr val="E9EEF8"/>
                </a:solidFill>
                <a:latin typeface="Cambria" pitchFamily="34" charset="0"/>
                <a:ea typeface="Cambria" pitchFamily="34" charset="-122"/>
                <a:cs typeface="Cambria" pitchFamily="34" charset="-120"/>
              </a:rPr>
              <a:t>The two systems were the same</a:t>
            </a:r>
            <a:endParaRPr lang="en-US" sz="3800" dirty="0"/>
          </a:p>
        </p:txBody>
      </p:sp>
      <p:sp>
        <p:nvSpPr>
          <p:cNvPr id="4" name="Text 2"/>
          <p:cNvSpPr/>
          <p:nvPr/>
        </p:nvSpPr>
        <p:spPr>
          <a:xfrm>
            <a:off x="685800" y="2057400"/>
            <a:ext cx="5943600" cy="2103120"/>
          </a:xfrm>
          <a:prstGeom prst="rect">
            <a:avLst/>
          </a:prstGeom>
          <a:noFill/>
          <a:ln/>
        </p:spPr>
        <p:txBody>
          <a:bodyPr wrap="square" lIns="0" tIns="0" rIns="0" bIns="0" rtlCol="0" anchor="ctr"/>
          <a:lstStyle/>
          <a:p>
            <a:pPr indent="0" marL="0">
              <a:lnSpc>
                <a:spcPts val="3100"/>
              </a:lnSpc>
              <a:buNone/>
            </a:pPr>
            <a:r>
              <a:rPr lang="en-US" sz="1900" dirty="0">
                <a:solidFill>
                  <a:srgbClr val="E9EEF8"/>
                </a:solidFill>
                <a:latin typeface="Calibri" pitchFamily="34" charset="0"/>
                <a:ea typeface="Calibri" pitchFamily="34" charset="-122"/>
                <a:cs typeface="Calibri" pitchFamily="34" charset="-120"/>
              </a:rPr>
              <a:t>Measured properly, the gap between them was small enough to be chance. They sort content into essentially the same order. The only thing that differs is where you draw the cut-off line — how aggressive you are willing to be about what reaches a reviewer.</a:t>
            </a:r>
            <a:endParaRPr lang="en-US" sz="1900" dirty="0"/>
          </a:p>
        </p:txBody>
      </p:sp>
      <p:sp>
        <p:nvSpPr>
          <p:cNvPr id="5" name="Text 3"/>
          <p:cNvSpPr/>
          <p:nvPr/>
        </p:nvSpPr>
        <p:spPr>
          <a:xfrm>
            <a:off x="685800" y="4343400"/>
            <a:ext cx="5943600" cy="822960"/>
          </a:xfrm>
          <a:prstGeom prst="rect">
            <a:avLst/>
          </a:prstGeom>
          <a:noFill/>
          <a:ln/>
        </p:spPr>
        <p:txBody>
          <a:bodyPr wrap="square" lIns="0" tIns="0" rIns="0" bIns="0" rtlCol="0" anchor="ctr"/>
          <a:lstStyle/>
          <a:p>
            <a:pPr indent="0" marL="0">
              <a:lnSpc>
                <a:spcPts val="2200"/>
              </a:lnSpc>
              <a:buNone/>
            </a:pPr>
            <a:r>
              <a:rPr lang="en-US" sz="1550" dirty="0">
                <a:solidFill>
                  <a:srgbClr val="93A9CC"/>
                </a:solidFill>
                <a:latin typeface="Calibri" pitchFamily="34" charset="0"/>
                <a:ea typeface="Calibri" pitchFamily="34" charset="-122"/>
                <a:cs typeface="Calibri" pitchFamily="34" charset="-120"/>
              </a:rPr>
              <a:t>One ranks. The other ranks the same way. You are not choosing a model.</a:t>
            </a:r>
            <a:endParaRPr lang="en-US" sz="1550" dirty="0"/>
          </a:p>
        </p:txBody>
      </p:sp>
      <p:sp>
        <p:nvSpPr>
          <p:cNvPr id="6" name="Shape 4"/>
          <p:cNvSpPr/>
          <p:nvPr/>
        </p:nvSpPr>
        <p:spPr>
          <a:xfrm>
            <a:off x="685800" y="5532120"/>
            <a:ext cx="155448" cy="155448"/>
          </a:xfrm>
          <a:prstGeom prst="roundRect">
            <a:avLst>
              <a:gd name="adj" fmla="val 23529"/>
            </a:avLst>
          </a:prstGeom>
          <a:solidFill>
            <a:srgbClr val="27395C"/>
          </a:solidFill>
          <a:ln/>
        </p:spPr>
      </p:sp>
      <p:sp>
        <p:nvSpPr>
          <p:cNvPr id="7" name="Shape 5"/>
          <p:cNvSpPr/>
          <p:nvPr/>
        </p:nvSpPr>
        <p:spPr>
          <a:xfrm>
            <a:off x="923544" y="5532120"/>
            <a:ext cx="155448" cy="155448"/>
          </a:xfrm>
          <a:prstGeom prst="roundRect">
            <a:avLst>
              <a:gd name="adj" fmla="val 23529"/>
            </a:avLst>
          </a:prstGeom>
          <a:solidFill>
            <a:srgbClr val="FF6B5B"/>
          </a:solidFill>
          <a:ln/>
        </p:spPr>
      </p:sp>
      <p:sp>
        <p:nvSpPr>
          <p:cNvPr id="8" name="Shape 6"/>
          <p:cNvSpPr/>
          <p:nvPr/>
        </p:nvSpPr>
        <p:spPr>
          <a:xfrm>
            <a:off x="1161288" y="5532120"/>
            <a:ext cx="155448" cy="155448"/>
          </a:xfrm>
          <a:prstGeom prst="roundRect">
            <a:avLst>
              <a:gd name="adj" fmla="val 23529"/>
            </a:avLst>
          </a:prstGeom>
          <a:solidFill>
            <a:srgbClr val="27395C"/>
          </a:solidFill>
          <a:ln/>
        </p:spPr>
      </p:sp>
      <p:sp>
        <p:nvSpPr>
          <p:cNvPr id="9" name="Shape 7"/>
          <p:cNvSpPr/>
          <p:nvPr/>
        </p:nvSpPr>
        <p:spPr>
          <a:xfrm>
            <a:off x="1399032" y="5532120"/>
            <a:ext cx="155448" cy="155448"/>
          </a:xfrm>
          <a:prstGeom prst="roundRect">
            <a:avLst>
              <a:gd name="adj" fmla="val 23529"/>
            </a:avLst>
          </a:prstGeom>
          <a:solidFill>
            <a:srgbClr val="27395C"/>
          </a:solidFill>
          <a:ln/>
        </p:spPr>
      </p:sp>
      <p:sp>
        <p:nvSpPr>
          <p:cNvPr id="10" name="Shape 8"/>
          <p:cNvSpPr/>
          <p:nvPr/>
        </p:nvSpPr>
        <p:spPr>
          <a:xfrm>
            <a:off x="1636776" y="5532120"/>
            <a:ext cx="155448" cy="155448"/>
          </a:xfrm>
          <a:prstGeom prst="roundRect">
            <a:avLst>
              <a:gd name="adj" fmla="val 23529"/>
            </a:avLst>
          </a:prstGeom>
          <a:solidFill>
            <a:srgbClr val="FF6B5B"/>
          </a:solidFill>
          <a:ln/>
        </p:spPr>
      </p:sp>
      <p:sp>
        <p:nvSpPr>
          <p:cNvPr id="11" name="Shape 9"/>
          <p:cNvSpPr/>
          <p:nvPr/>
        </p:nvSpPr>
        <p:spPr>
          <a:xfrm>
            <a:off x="1874520" y="5532120"/>
            <a:ext cx="155448" cy="155448"/>
          </a:xfrm>
          <a:prstGeom prst="roundRect">
            <a:avLst>
              <a:gd name="adj" fmla="val 23529"/>
            </a:avLst>
          </a:prstGeom>
          <a:solidFill>
            <a:srgbClr val="FF6B5B"/>
          </a:solidFill>
          <a:ln/>
        </p:spPr>
      </p:sp>
      <p:sp>
        <p:nvSpPr>
          <p:cNvPr id="12" name="Shape 10"/>
          <p:cNvSpPr/>
          <p:nvPr/>
        </p:nvSpPr>
        <p:spPr>
          <a:xfrm>
            <a:off x="2112264" y="5532120"/>
            <a:ext cx="155448" cy="155448"/>
          </a:xfrm>
          <a:prstGeom prst="roundRect">
            <a:avLst>
              <a:gd name="adj" fmla="val 23529"/>
            </a:avLst>
          </a:prstGeom>
          <a:solidFill>
            <a:srgbClr val="27395C"/>
          </a:solidFill>
          <a:ln/>
        </p:spPr>
      </p:sp>
      <p:sp>
        <p:nvSpPr>
          <p:cNvPr id="13" name="Shape 11"/>
          <p:cNvSpPr/>
          <p:nvPr/>
        </p:nvSpPr>
        <p:spPr>
          <a:xfrm>
            <a:off x="2350008" y="5532120"/>
            <a:ext cx="155448" cy="155448"/>
          </a:xfrm>
          <a:prstGeom prst="roundRect">
            <a:avLst>
              <a:gd name="adj" fmla="val 23529"/>
            </a:avLst>
          </a:prstGeom>
          <a:solidFill>
            <a:srgbClr val="27395C"/>
          </a:solidFill>
          <a:ln/>
        </p:spPr>
      </p:sp>
      <p:sp>
        <p:nvSpPr>
          <p:cNvPr id="14" name="Shape 12"/>
          <p:cNvSpPr/>
          <p:nvPr/>
        </p:nvSpPr>
        <p:spPr>
          <a:xfrm>
            <a:off x="2587752" y="5532120"/>
            <a:ext cx="155448" cy="155448"/>
          </a:xfrm>
          <a:prstGeom prst="roundRect">
            <a:avLst>
              <a:gd name="adj" fmla="val 23529"/>
            </a:avLst>
          </a:prstGeom>
          <a:solidFill>
            <a:srgbClr val="27395C"/>
          </a:solidFill>
          <a:ln/>
        </p:spPr>
      </p:sp>
      <p:sp>
        <p:nvSpPr>
          <p:cNvPr id="15" name="Shape 13"/>
          <p:cNvSpPr/>
          <p:nvPr/>
        </p:nvSpPr>
        <p:spPr>
          <a:xfrm>
            <a:off x="7086600" y="1965960"/>
            <a:ext cx="4416552" cy="3703320"/>
          </a:xfrm>
          <a:prstGeom prst="roundRect">
            <a:avLst>
              <a:gd name="adj" fmla="val 3457"/>
            </a:avLst>
          </a:prstGeom>
          <a:solidFill>
            <a:srgbClr val="1B2740"/>
          </a:solidFill>
          <a:ln/>
        </p:spPr>
      </p:sp>
      <p:sp>
        <p:nvSpPr>
          <p:cNvPr id="16" name="Text 14"/>
          <p:cNvSpPr/>
          <p:nvPr/>
        </p:nvSpPr>
        <p:spPr>
          <a:xfrm>
            <a:off x="7498080" y="2468880"/>
            <a:ext cx="3611880" cy="1234440"/>
          </a:xfrm>
          <a:prstGeom prst="rect">
            <a:avLst/>
          </a:prstGeom>
          <a:noFill/>
          <a:ln/>
        </p:spPr>
        <p:txBody>
          <a:bodyPr wrap="square" lIns="0" tIns="0" rIns="0" bIns="0" rtlCol="0" anchor="ctr"/>
          <a:lstStyle/>
          <a:p>
            <a:pPr indent="0" marL="0">
              <a:lnSpc>
                <a:spcPts val="3500"/>
              </a:lnSpc>
              <a:buNone/>
            </a:pPr>
            <a:r>
              <a:rPr lang="en-US" sz="2800" b="1" dirty="0">
                <a:solidFill>
                  <a:srgbClr val="93A9CC"/>
                </a:solidFill>
                <a:latin typeface="Cambria" pitchFamily="34" charset="0"/>
                <a:ea typeface="Cambria" pitchFamily="34" charset="-122"/>
                <a:cs typeface="Cambria" pitchFamily="34" charset="-120"/>
              </a:rPr>
              <a:t>This isn't an engineering decision.</a:t>
            </a:r>
            <a:endParaRPr lang="en-US" sz="2800" dirty="0"/>
          </a:p>
        </p:txBody>
      </p:sp>
      <p:sp>
        <p:nvSpPr>
          <p:cNvPr id="17" name="Text 15"/>
          <p:cNvSpPr/>
          <p:nvPr/>
        </p:nvSpPr>
        <p:spPr>
          <a:xfrm>
            <a:off x="7498080" y="3886200"/>
            <a:ext cx="3611880" cy="1280160"/>
          </a:xfrm>
          <a:prstGeom prst="rect">
            <a:avLst/>
          </a:prstGeom>
          <a:noFill/>
          <a:ln/>
        </p:spPr>
        <p:txBody>
          <a:bodyPr wrap="square" lIns="0" tIns="0" rIns="0" bIns="0" rtlCol="0" anchor="ctr"/>
          <a:lstStyle/>
          <a:p>
            <a:pPr indent="0" marL="0">
              <a:lnSpc>
                <a:spcPts val="4100"/>
              </a:lnSpc>
              <a:buNone/>
            </a:pPr>
            <a:r>
              <a:rPr lang="en-US" sz="3400" b="1" dirty="0">
                <a:solidFill>
                  <a:srgbClr val="FF6B5B"/>
                </a:solidFill>
                <a:latin typeface="Cambria" pitchFamily="34" charset="0"/>
                <a:ea typeface="Cambria" pitchFamily="34" charset="-122"/>
                <a:cs typeface="Cambria" pitchFamily="34" charset="-120"/>
              </a:rPr>
              <a:t>It's a staffing decision.</a:t>
            </a:r>
            <a:endParaRPr lang="en-US" sz="3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685800" y="274320"/>
            <a:ext cx="10820095" cy="274320"/>
          </a:xfrm>
          <a:prstGeom prst="rect">
            <a:avLst/>
          </a:prstGeom>
          <a:noFill/>
          <a:ln/>
        </p:spPr>
        <p:txBody>
          <a:bodyPr wrap="square" lIns="0" tIns="0" rIns="0" bIns="0" rtlCol="0" anchor="ctr"/>
          <a:lstStyle/>
          <a:p>
            <a:pPr indent="0" marL="0">
              <a:buNone/>
            </a:pPr>
            <a:r>
              <a:rPr lang="en-US" sz="1200" b="1" spc="220" kern="0" dirty="0">
                <a:solidFill>
                  <a:srgbClr val="C8452B"/>
                </a:solidFill>
                <a:latin typeface="Calibri" pitchFamily="34" charset="0"/>
                <a:ea typeface="Calibri" pitchFamily="34" charset="-122"/>
                <a:cs typeface="Calibri" pitchFamily="34" charset="-120"/>
              </a:rPr>
              <a:t>FINDING 03  ·  THE ONE THAT MATTERS</a:t>
            </a:r>
            <a:endParaRPr lang="en-US" sz="1200" dirty="0"/>
          </a:p>
        </p:txBody>
      </p:sp>
      <p:sp>
        <p:nvSpPr>
          <p:cNvPr id="3" name="Text 1"/>
          <p:cNvSpPr/>
          <p:nvPr/>
        </p:nvSpPr>
        <p:spPr>
          <a:xfrm>
            <a:off x="685800" y="566928"/>
            <a:ext cx="10820095" cy="868680"/>
          </a:xfrm>
          <a:prstGeom prst="rect">
            <a:avLst/>
          </a:prstGeom>
          <a:noFill/>
          <a:ln/>
        </p:spPr>
        <p:txBody>
          <a:bodyPr wrap="square" lIns="0" tIns="0" rIns="0" bIns="0" rtlCol="0" anchor="t"/>
          <a:lstStyle/>
          <a:p>
            <a:pPr indent="0" marL="0">
              <a:buNone/>
            </a:pPr>
            <a:r>
              <a:rPr lang="en-US" sz="3800" b="1" dirty="0">
                <a:solidFill>
                  <a:srgbClr val="0F1729"/>
                </a:solidFill>
                <a:latin typeface="Cambria" pitchFamily="34" charset="0"/>
                <a:ea typeface="Cambria" pitchFamily="34" charset="-122"/>
                <a:cs typeface="Cambria" pitchFamily="34" charset="-120"/>
              </a:rPr>
              <a:t>Then I moved it to a different platform</a:t>
            </a:r>
            <a:endParaRPr lang="en-US" sz="3800" dirty="0"/>
          </a:p>
        </p:txBody>
      </p:sp>
      <p:graphicFrame>
        <p:nvGraphicFramePr>
          <p:cNvPr id="4" name="Chart 0" descr=""/>
          <p:cNvGraphicFramePr/>
          <p:nvPr/>
        </p:nvGraphicFramePr>
        <p:xfrm>
          <a:off x="685800" y="1737360"/>
          <a:ext cx="6400800" cy="38862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52360" y="1737360"/>
            <a:ext cx="4050792" cy="1783080"/>
          </a:xfrm>
          <a:prstGeom prst="roundRect">
            <a:avLst>
              <a:gd name="adj" fmla="val 6154"/>
            </a:avLst>
          </a:prstGeom>
          <a:solidFill>
            <a:srgbClr val="C8452B"/>
          </a:solidFill>
          <a:ln/>
        </p:spPr>
      </p:sp>
      <p:sp>
        <p:nvSpPr>
          <p:cNvPr id="6" name="Text 3"/>
          <p:cNvSpPr/>
          <p:nvPr/>
        </p:nvSpPr>
        <p:spPr>
          <a:xfrm>
            <a:off x="7772400" y="1874520"/>
            <a:ext cx="3410712" cy="7772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73%</a:t>
            </a:r>
            <a:endParaRPr lang="en-US" sz="5400" dirty="0"/>
          </a:p>
        </p:txBody>
      </p:sp>
      <p:sp>
        <p:nvSpPr>
          <p:cNvPr id="7" name="Text 4"/>
          <p:cNvSpPr/>
          <p:nvPr/>
        </p:nvSpPr>
        <p:spPr>
          <a:xfrm>
            <a:off x="7772400" y="2670048"/>
            <a:ext cx="3410712" cy="777240"/>
          </a:xfrm>
          <a:prstGeom prst="rect">
            <a:avLst/>
          </a:prstGeom>
          <a:noFill/>
          <a:ln/>
        </p:spPr>
        <p:txBody>
          <a:bodyPr wrap="square" lIns="0" tIns="0" rIns="0" bIns="0" rtlCol="0" anchor="ctr"/>
          <a:lstStyle/>
          <a:p>
            <a:pPr indent="0" marL="0">
              <a:lnSpc>
                <a:spcPts val="1900"/>
              </a:lnSpc>
              <a:buNone/>
            </a:pPr>
            <a:r>
              <a:rPr lang="en-US" sz="1400" dirty="0">
                <a:solidFill>
                  <a:srgbClr val="FFE9E4"/>
                </a:solidFill>
                <a:latin typeface="Calibri" pitchFamily="34" charset="0"/>
                <a:ea typeface="Calibri" pitchFamily="34" charset="-122"/>
                <a:cs typeface="Calibri" pitchFamily="34" charset="-120"/>
              </a:rPr>
              <a:t>of everything was flagged. The true rate of harmful content was under 6%.</a:t>
            </a:r>
            <a:endParaRPr lang="en-US" sz="1400" dirty="0"/>
          </a:p>
        </p:txBody>
      </p:sp>
      <p:sp>
        <p:nvSpPr>
          <p:cNvPr id="8" name="Text 5"/>
          <p:cNvSpPr/>
          <p:nvPr/>
        </p:nvSpPr>
        <p:spPr>
          <a:xfrm>
            <a:off x="7452360" y="3794760"/>
            <a:ext cx="4050792" cy="457200"/>
          </a:xfrm>
          <a:prstGeom prst="rect">
            <a:avLst/>
          </a:prstGeom>
          <a:noFill/>
          <a:ln/>
        </p:spPr>
        <p:txBody>
          <a:bodyPr wrap="square" lIns="0" tIns="0" rIns="0" bIns="0" rtlCol="0" anchor="ctr"/>
          <a:lstStyle/>
          <a:p>
            <a:pPr indent="0" marL="0">
              <a:buNone/>
            </a:pPr>
            <a:r>
              <a:rPr lang="en-US" sz="2500" b="1" dirty="0">
                <a:solidFill>
                  <a:srgbClr val="0F1729"/>
                </a:solidFill>
                <a:latin typeface="Cambria" pitchFamily="34" charset="0"/>
                <a:ea typeface="Cambria" pitchFamily="34" charset="-122"/>
                <a:cs typeface="Cambria" pitchFamily="34" charset="-120"/>
              </a:rPr>
              <a:t>It cannot tell them apart.</a:t>
            </a:r>
            <a:endParaRPr lang="en-US" sz="2500" dirty="0"/>
          </a:p>
        </p:txBody>
      </p:sp>
      <p:sp>
        <p:nvSpPr>
          <p:cNvPr id="9" name="Text 6"/>
          <p:cNvSpPr/>
          <p:nvPr/>
        </p:nvSpPr>
        <p:spPr>
          <a:xfrm>
            <a:off x="7452360" y="4279392"/>
            <a:ext cx="4050792" cy="1234440"/>
          </a:xfrm>
          <a:prstGeom prst="rect">
            <a:avLst/>
          </a:prstGeom>
          <a:noFill/>
          <a:ln/>
        </p:spPr>
        <p:txBody>
          <a:bodyPr wrap="square" lIns="0" tIns="0" rIns="0" bIns="0" rtlCol="0" anchor="ctr"/>
          <a:lstStyle/>
          <a:p>
            <a:pPr indent="0" marL="0">
              <a:lnSpc>
                <a:spcPts val="2100"/>
              </a:lnSpc>
              <a:buNone/>
            </a:pPr>
            <a:r>
              <a:rPr lang="en-US" sz="1450" dirty="0">
                <a:solidFill>
                  <a:srgbClr val="44506B"/>
                </a:solidFill>
                <a:latin typeface="Calibri" pitchFamily="34" charset="0"/>
                <a:ea typeface="Calibri" pitchFamily="34" charset="-122"/>
                <a:cs typeface="Calibri" pitchFamily="34" charset="-120"/>
              </a:rPr>
              <a:t>Genuinely hateful posts and merely rude ones were flagged at the identical rate — because the data it learned from never separated the two.</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685800" y="274320"/>
            <a:ext cx="10820095" cy="274320"/>
          </a:xfrm>
          <a:prstGeom prst="rect">
            <a:avLst/>
          </a:prstGeom>
          <a:noFill/>
          <a:ln/>
        </p:spPr>
        <p:txBody>
          <a:bodyPr wrap="square" lIns="0" tIns="0" rIns="0" bIns="0" rtlCol="0" anchor="ctr"/>
          <a:lstStyle/>
          <a:p>
            <a:pPr indent="0" marL="0">
              <a:buNone/>
            </a:pPr>
            <a:r>
              <a:rPr lang="en-US" sz="1200" b="1" spc="220" kern="0" dirty="0">
                <a:solidFill>
                  <a:srgbClr val="FF6B5B"/>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685800" y="566928"/>
            <a:ext cx="10820095" cy="868680"/>
          </a:xfrm>
          <a:prstGeom prst="rect">
            <a:avLst/>
          </a:prstGeom>
          <a:noFill/>
          <a:ln/>
        </p:spPr>
        <p:txBody>
          <a:bodyPr wrap="square" lIns="0" tIns="0" rIns="0" bIns="0" rtlCol="0" anchor="t"/>
          <a:lstStyle/>
          <a:p>
            <a:pPr indent="0" marL="0">
              <a:buNone/>
            </a:pPr>
            <a:r>
              <a:rPr lang="en-US" sz="3800" b="1" dirty="0">
                <a:solidFill>
                  <a:srgbClr val="E9EEF8"/>
                </a:solidFill>
                <a:latin typeface="Cambria" pitchFamily="34" charset="0"/>
                <a:ea typeface="Cambria" pitchFamily="34" charset="-122"/>
                <a:cs typeface="Cambria" pitchFamily="34" charset="-120"/>
              </a:rPr>
              <a:t>In production, that is not a slightly worse score</a:t>
            </a:r>
            <a:endParaRPr lang="en-US" sz="3800" dirty="0"/>
          </a:p>
        </p:txBody>
      </p:sp>
      <p:sp>
        <p:nvSpPr>
          <p:cNvPr id="4" name="Shape 2"/>
          <p:cNvSpPr/>
          <p:nvPr/>
        </p:nvSpPr>
        <p:spPr>
          <a:xfrm>
            <a:off x="685800" y="1965960"/>
            <a:ext cx="5212080" cy="1664208"/>
          </a:xfrm>
          <a:prstGeom prst="roundRect">
            <a:avLst>
              <a:gd name="adj" fmla="val 5495"/>
            </a:avLst>
          </a:prstGeom>
          <a:solidFill>
            <a:srgbClr val="1B2740"/>
          </a:solidFill>
          <a:ln/>
        </p:spPr>
      </p:sp>
      <p:sp>
        <p:nvSpPr>
          <p:cNvPr id="5" name="Text 3"/>
          <p:cNvSpPr/>
          <p:nvPr/>
        </p:nvSpPr>
        <p:spPr>
          <a:xfrm>
            <a:off x="1033272" y="2258568"/>
            <a:ext cx="4526280" cy="384048"/>
          </a:xfrm>
          <a:prstGeom prst="rect">
            <a:avLst/>
          </a:prstGeom>
          <a:noFill/>
          <a:ln/>
        </p:spPr>
        <p:txBody>
          <a:bodyPr wrap="square" lIns="0" tIns="0" rIns="0" bIns="0" rtlCol="0" anchor="ctr"/>
          <a:lstStyle/>
          <a:p>
            <a:pPr indent="0" marL="0">
              <a:buNone/>
            </a:pPr>
            <a:r>
              <a:rPr lang="en-US" sz="1800" b="1" dirty="0">
                <a:solidFill>
                  <a:srgbClr val="E9EEF8"/>
                </a:solidFill>
                <a:latin typeface="Calibri" pitchFamily="34" charset="0"/>
                <a:ea typeface="Calibri" pitchFamily="34" charset="-122"/>
                <a:cs typeface="Calibri" pitchFamily="34" charset="-120"/>
              </a:rPr>
              <a:t>Mass wrongful removals</a:t>
            </a:r>
            <a:endParaRPr lang="en-US" sz="1800" dirty="0"/>
          </a:p>
        </p:txBody>
      </p:sp>
      <p:sp>
        <p:nvSpPr>
          <p:cNvPr id="6" name="Text 4"/>
          <p:cNvSpPr/>
          <p:nvPr/>
        </p:nvSpPr>
        <p:spPr>
          <a:xfrm>
            <a:off x="1033272" y="2715768"/>
            <a:ext cx="4526280" cy="685800"/>
          </a:xfrm>
          <a:prstGeom prst="rect">
            <a:avLst/>
          </a:prstGeom>
          <a:noFill/>
          <a:ln/>
        </p:spPr>
        <p:txBody>
          <a:bodyPr wrap="square" lIns="0" tIns="0" rIns="0" bIns="0" rtlCol="0" anchor="ctr"/>
          <a:lstStyle/>
          <a:p>
            <a:pPr indent="0" marL="0">
              <a:lnSpc>
                <a:spcPts val="2000"/>
              </a:lnSpc>
              <a:buNone/>
            </a:pPr>
            <a:r>
              <a:rPr lang="en-US" sz="1450" dirty="0">
                <a:solidFill>
                  <a:srgbClr val="93A9CC"/>
                </a:solidFill>
                <a:latin typeface="Calibri" pitchFamily="34" charset="0"/>
                <a:ea typeface="Calibri" pitchFamily="34" charset="-122"/>
                <a:cs typeface="Calibri" pitchFamily="34" charset="-120"/>
              </a:rPr>
              <a:t>Three quarters of ordinary posts pulled from a legitimate community.</a:t>
            </a:r>
            <a:endParaRPr lang="en-US" sz="1450" dirty="0"/>
          </a:p>
        </p:txBody>
      </p:sp>
      <p:sp>
        <p:nvSpPr>
          <p:cNvPr id="7" name="Shape 5"/>
          <p:cNvSpPr/>
          <p:nvPr/>
        </p:nvSpPr>
        <p:spPr>
          <a:xfrm>
            <a:off x="6355080" y="1965960"/>
            <a:ext cx="5212080" cy="1664208"/>
          </a:xfrm>
          <a:prstGeom prst="roundRect">
            <a:avLst>
              <a:gd name="adj" fmla="val 5495"/>
            </a:avLst>
          </a:prstGeom>
          <a:solidFill>
            <a:srgbClr val="1B2740"/>
          </a:solidFill>
          <a:ln/>
        </p:spPr>
      </p:sp>
      <p:sp>
        <p:nvSpPr>
          <p:cNvPr id="8" name="Text 6"/>
          <p:cNvSpPr/>
          <p:nvPr/>
        </p:nvSpPr>
        <p:spPr>
          <a:xfrm>
            <a:off x="6702552" y="2258568"/>
            <a:ext cx="4526280" cy="384048"/>
          </a:xfrm>
          <a:prstGeom prst="rect">
            <a:avLst/>
          </a:prstGeom>
          <a:noFill/>
          <a:ln/>
        </p:spPr>
        <p:txBody>
          <a:bodyPr wrap="square" lIns="0" tIns="0" rIns="0" bIns="0" rtlCol="0" anchor="ctr"/>
          <a:lstStyle/>
          <a:p>
            <a:pPr indent="0" marL="0">
              <a:buNone/>
            </a:pPr>
            <a:r>
              <a:rPr lang="en-US" sz="1800" b="1" dirty="0">
                <a:solidFill>
                  <a:srgbClr val="E9EEF8"/>
                </a:solidFill>
                <a:latin typeface="Calibri" pitchFamily="34" charset="0"/>
                <a:ea typeface="Calibri" pitchFamily="34" charset="-122"/>
                <a:cs typeface="Calibri" pitchFamily="34" charset="-120"/>
              </a:rPr>
              <a:t>An appeals backlog you cannot staff</a:t>
            </a:r>
            <a:endParaRPr lang="en-US" sz="1800" dirty="0"/>
          </a:p>
        </p:txBody>
      </p:sp>
      <p:sp>
        <p:nvSpPr>
          <p:cNvPr id="9" name="Text 7"/>
          <p:cNvSpPr/>
          <p:nvPr/>
        </p:nvSpPr>
        <p:spPr>
          <a:xfrm>
            <a:off x="6702552" y="2715768"/>
            <a:ext cx="4526280" cy="685800"/>
          </a:xfrm>
          <a:prstGeom prst="rect">
            <a:avLst/>
          </a:prstGeom>
          <a:noFill/>
          <a:ln/>
        </p:spPr>
        <p:txBody>
          <a:bodyPr wrap="square" lIns="0" tIns="0" rIns="0" bIns="0" rtlCol="0" anchor="ctr"/>
          <a:lstStyle/>
          <a:p>
            <a:pPr indent="0" marL="0">
              <a:lnSpc>
                <a:spcPts val="2000"/>
              </a:lnSpc>
              <a:buNone/>
            </a:pPr>
            <a:r>
              <a:rPr lang="en-US" sz="1450" dirty="0">
                <a:solidFill>
                  <a:srgbClr val="93A9CC"/>
                </a:solidFill>
                <a:latin typeface="Calibri" pitchFamily="34" charset="0"/>
                <a:ea typeface="Calibri" pitchFamily="34" charset="-122"/>
                <a:cs typeface="Calibri" pitchFamily="34" charset="-120"/>
              </a:rPr>
              <a:t>Every wrongful removal becomes a complaint, and complaints need people too.</a:t>
            </a:r>
            <a:endParaRPr lang="en-US" sz="1450" dirty="0"/>
          </a:p>
        </p:txBody>
      </p:sp>
      <p:sp>
        <p:nvSpPr>
          <p:cNvPr id="10" name="Shape 8"/>
          <p:cNvSpPr/>
          <p:nvPr/>
        </p:nvSpPr>
        <p:spPr>
          <a:xfrm>
            <a:off x="685800" y="3931920"/>
            <a:ext cx="5212080" cy="1664208"/>
          </a:xfrm>
          <a:prstGeom prst="roundRect">
            <a:avLst>
              <a:gd name="adj" fmla="val 5495"/>
            </a:avLst>
          </a:prstGeom>
          <a:solidFill>
            <a:srgbClr val="1B2740"/>
          </a:solidFill>
          <a:ln/>
        </p:spPr>
      </p:sp>
      <p:sp>
        <p:nvSpPr>
          <p:cNvPr id="11" name="Text 9"/>
          <p:cNvSpPr/>
          <p:nvPr/>
        </p:nvSpPr>
        <p:spPr>
          <a:xfrm>
            <a:off x="1033272" y="4224528"/>
            <a:ext cx="4526280" cy="384048"/>
          </a:xfrm>
          <a:prstGeom prst="rect">
            <a:avLst/>
          </a:prstGeom>
          <a:noFill/>
          <a:ln/>
        </p:spPr>
        <p:txBody>
          <a:bodyPr wrap="square" lIns="0" tIns="0" rIns="0" bIns="0" rtlCol="0" anchor="ctr"/>
          <a:lstStyle/>
          <a:p>
            <a:pPr indent="0" marL="0">
              <a:buNone/>
            </a:pPr>
            <a:r>
              <a:rPr lang="en-US" sz="1800" b="1" dirty="0">
                <a:solidFill>
                  <a:srgbClr val="E9EEF8"/>
                </a:solidFill>
                <a:latin typeface="Calibri" pitchFamily="34" charset="0"/>
                <a:ea typeface="Calibri" pitchFamily="34" charset="-122"/>
                <a:cs typeface="Calibri" pitchFamily="34" charset="-120"/>
              </a:rPr>
              <a:t>Regulatory and press attention</a:t>
            </a:r>
            <a:endParaRPr lang="en-US" sz="1800" dirty="0"/>
          </a:p>
        </p:txBody>
      </p:sp>
      <p:sp>
        <p:nvSpPr>
          <p:cNvPr id="12" name="Text 10"/>
          <p:cNvSpPr/>
          <p:nvPr/>
        </p:nvSpPr>
        <p:spPr>
          <a:xfrm>
            <a:off x="1033272" y="4681728"/>
            <a:ext cx="4526280" cy="685800"/>
          </a:xfrm>
          <a:prstGeom prst="rect">
            <a:avLst/>
          </a:prstGeom>
          <a:noFill/>
          <a:ln/>
        </p:spPr>
        <p:txBody>
          <a:bodyPr wrap="square" lIns="0" tIns="0" rIns="0" bIns="0" rtlCol="0" anchor="ctr"/>
          <a:lstStyle/>
          <a:p>
            <a:pPr indent="0" marL="0">
              <a:lnSpc>
                <a:spcPts val="2000"/>
              </a:lnSpc>
              <a:buNone/>
            </a:pPr>
            <a:r>
              <a:rPr lang="en-US" sz="1450" dirty="0">
                <a:solidFill>
                  <a:srgbClr val="93A9CC"/>
                </a:solidFill>
                <a:latin typeface="Calibri" pitchFamily="34" charset="0"/>
                <a:ea typeface="Calibri" pitchFamily="34" charset="-122"/>
                <a:cs typeface="Calibri" pitchFamily="34" charset="-120"/>
              </a:rPr>
              <a:t>Over-blocking is the failure that makes the news, not under-blocking.</a:t>
            </a:r>
            <a:endParaRPr lang="en-US" sz="1450" dirty="0"/>
          </a:p>
        </p:txBody>
      </p:sp>
      <p:sp>
        <p:nvSpPr>
          <p:cNvPr id="13" name="Shape 11"/>
          <p:cNvSpPr/>
          <p:nvPr/>
        </p:nvSpPr>
        <p:spPr>
          <a:xfrm>
            <a:off x="6355080" y="3931920"/>
            <a:ext cx="5212080" cy="1664208"/>
          </a:xfrm>
          <a:prstGeom prst="roundRect">
            <a:avLst>
              <a:gd name="adj" fmla="val 5495"/>
            </a:avLst>
          </a:prstGeom>
          <a:solidFill>
            <a:srgbClr val="2B1A22"/>
          </a:solidFill>
          <a:ln/>
        </p:spPr>
      </p:sp>
      <p:sp>
        <p:nvSpPr>
          <p:cNvPr id="14" name="Text 12"/>
          <p:cNvSpPr/>
          <p:nvPr/>
        </p:nvSpPr>
        <p:spPr>
          <a:xfrm>
            <a:off x="6702552" y="4224528"/>
            <a:ext cx="4526280" cy="384048"/>
          </a:xfrm>
          <a:prstGeom prst="rect">
            <a:avLst/>
          </a:prstGeom>
          <a:noFill/>
          <a:ln/>
        </p:spPr>
        <p:txBody>
          <a:bodyPr wrap="square" lIns="0" tIns="0" rIns="0" bIns="0" rtlCol="0" anchor="ctr"/>
          <a:lstStyle/>
          <a:p>
            <a:pPr indent="0" marL="0">
              <a:buNone/>
            </a:pPr>
            <a:r>
              <a:rPr lang="en-US" sz="1800" b="1" dirty="0">
                <a:solidFill>
                  <a:srgbClr val="FF6B5B"/>
                </a:solidFill>
                <a:latin typeface="Calibri" pitchFamily="34" charset="0"/>
                <a:ea typeface="Calibri" pitchFamily="34" charset="-122"/>
                <a:cs typeface="Calibri" pitchFamily="34" charset="-120"/>
              </a:rPr>
              <a:t>And it was invisible</a:t>
            </a:r>
            <a:endParaRPr lang="en-US" sz="1800" dirty="0"/>
          </a:p>
        </p:txBody>
      </p:sp>
      <p:sp>
        <p:nvSpPr>
          <p:cNvPr id="15" name="Text 13"/>
          <p:cNvSpPr/>
          <p:nvPr/>
        </p:nvSpPr>
        <p:spPr>
          <a:xfrm>
            <a:off x="6702552" y="4681728"/>
            <a:ext cx="4526280" cy="685800"/>
          </a:xfrm>
          <a:prstGeom prst="rect">
            <a:avLst/>
          </a:prstGeom>
          <a:noFill/>
          <a:ln/>
        </p:spPr>
        <p:txBody>
          <a:bodyPr wrap="square" lIns="0" tIns="0" rIns="0" bIns="0" rtlCol="0" anchor="ctr"/>
          <a:lstStyle/>
          <a:p>
            <a:pPr indent="0" marL="0">
              <a:lnSpc>
                <a:spcPts val="2000"/>
              </a:lnSpc>
              <a:buNone/>
            </a:pPr>
            <a:r>
              <a:rPr lang="en-US" sz="1450" dirty="0">
                <a:solidFill>
                  <a:srgbClr val="93A9CC"/>
                </a:solidFill>
                <a:latin typeface="Calibri" pitchFamily="34" charset="0"/>
                <a:ea typeface="Calibri" pitchFamily="34" charset="-122"/>
                <a:cs typeface="Calibri" pitchFamily="34" charset="-120"/>
              </a:rPr>
              <a:t>Every test on the original dataset said the system was excellent.</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685800" y="274320"/>
            <a:ext cx="10820095" cy="274320"/>
          </a:xfrm>
          <a:prstGeom prst="rect">
            <a:avLst/>
          </a:prstGeom>
          <a:noFill/>
          <a:ln/>
        </p:spPr>
        <p:txBody>
          <a:bodyPr wrap="square" lIns="0" tIns="0" rIns="0" bIns="0" rtlCol="0" anchor="ctr"/>
          <a:lstStyle/>
          <a:p>
            <a:pPr indent="0" marL="0">
              <a:buNone/>
            </a:pPr>
            <a:r>
              <a:rPr lang="en-US" sz="1200" b="1" spc="220" kern="0" dirty="0">
                <a:solidFill>
                  <a:srgbClr val="FF6B5B"/>
                </a:solidFill>
                <a:latin typeface="Calibri" pitchFamily="34" charset="0"/>
                <a:ea typeface="Calibri" pitchFamily="34" charset="-122"/>
                <a:cs typeface="Calibri" pitchFamily="34" charset="-120"/>
              </a:rPr>
              <a:t>RECOMMENDATION</a:t>
            </a:r>
            <a:endParaRPr lang="en-US" sz="1200" dirty="0"/>
          </a:p>
        </p:txBody>
      </p:sp>
      <p:sp>
        <p:nvSpPr>
          <p:cNvPr id="3" name="Text 1"/>
          <p:cNvSpPr/>
          <p:nvPr/>
        </p:nvSpPr>
        <p:spPr>
          <a:xfrm>
            <a:off x="685800" y="566928"/>
            <a:ext cx="10820095" cy="868680"/>
          </a:xfrm>
          <a:prstGeom prst="rect">
            <a:avLst/>
          </a:prstGeom>
          <a:noFill/>
          <a:ln/>
        </p:spPr>
        <p:txBody>
          <a:bodyPr wrap="square" lIns="0" tIns="0" rIns="0" bIns="0" rtlCol="0" anchor="t"/>
          <a:lstStyle/>
          <a:p>
            <a:pPr indent="0" marL="0">
              <a:buNone/>
            </a:pPr>
            <a:r>
              <a:rPr lang="en-US" sz="3800" b="1" dirty="0">
                <a:solidFill>
                  <a:srgbClr val="E9EEF8"/>
                </a:solidFill>
                <a:latin typeface="Cambria" pitchFamily="34" charset="0"/>
                <a:ea typeface="Cambria" pitchFamily="34" charset="-122"/>
                <a:cs typeface="Cambria" pitchFamily="34" charset="-120"/>
              </a:rPr>
              <a:t>What I would do</a:t>
            </a:r>
            <a:endParaRPr lang="en-US" sz="3800" dirty="0"/>
          </a:p>
        </p:txBody>
      </p:sp>
      <p:sp>
        <p:nvSpPr>
          <p:cNvPr id="4" name="Text 2"/>
          <p:cNvSpPr/>
          <p:nvPr/>
        </p:nvSpPr>
        <p:spPr>
          <a:xfrm>
            <a:off x="685800" y="1892808"/>
            <a:ext cx="822960" cy="548640"/>
          </a:xfrm>
          <a:prstGeom prst="rect">
            <a:avLst/>
          </a:prstGeom>
          <a:noFill/>
          <a:ln/>
        </p:spPr>
        <p:txBody>
          <a:bodyPr wrap="square" lIns="0" tIns="0" rIns="0" bIns="0" rtlCol="0" anchor="ctr"/>
          <a:lstStyle/>
          <a:p>
            <a:pPr indent="0" marL="0">
              <a:buNone/>
            </a:pPr>
            <a:r>
              <a:rPr lang="en-US" sz="3000" b="1" dirty="0">
                <a:solidFill>
                  <a:srgbClr val="31456B"/>
                </a:solidFill>
                <a:latin typeface="Cambria" pitchFamily="34" charset="0"/>
                <a:ea typeface="Cambria" pitchFamily="34" charset="-122"/>
                <a:cs typeface="Cambria" pitchFamily="34" charset="-120"/>
              </a:rPr>
              <a:t>01</a:t>
            </a:r>
            <a:endParaRPr lang="en-US" sz="3000" dirty="0"/>
          </a:p>
        </p:txBody>
      </p:sp>
      <p:sp>
        <p:nvSpPr>
          <p:cNvPr id="5" name="Text 3"/>
          <p:cNvSpPr/>
          <p:nvPr/>
        </p:nvSpPr>
        <p:spPr>
          <a:xfrm>
            <a:off x="1600200" y="1874520"/>
            <a:ext cx="9692640" cy="384048"/>
          </a:xfrm>
          <a:prstGeom prst="rect">
            <a:avLst/>
          </a:prstGeom>
          <a:noFill/>
          <a:ln/>
        </p:spPr>
        <p:txBody>
          <a:bodyPr wrap="square" lIns="0" tIns="0" rIns="0" bIns="0" rtlCol="0" anchor="ctr"/>
          <a:lstStyle/>
          <a:p>
            <a:pPr indent="0" marL="0">
              <a:buNone/>
            </a:pPr>
            <a:r>
              <a:rPr lang="en-US" sz="2000" b="1" dirty="0">
                <a:solidFill>
                  <a:srgbClr val="E9EEF8"/>
                </a:solidFill>
                <a:latin typeface="Calibri" pitchFamily="34" charset="0"/>
                <a:ea typeface="Calibri" pitchFamily="34" charset="-122"/>
                <a:cs typeface="Calibri" pitchFamily="34" charset="-120"/>
              </a:rPr>
              <a:t>Ship the simpler system</a:t>
            </a:r>
            <a:endParaRPr lang="en-US" sz="2000" dirty="0"/>
          </a:p>
        </p:txBody>
      </p:sp>
      <p:sp>
        <p:nvSpPr>
          <p:cNvPr id="6" name="Text 4"/>
          <p:cNvSpPr/>
          <p:nvPr/>
        </p:nvSpPr>
        <p:spPr>
          <a:xfrm>
            <a:off x="1600200" y="2276856"/>
            <a:ext cx="9692640" cy="658368"/>
          </a:xfrm>
          <a:prstGeom prst="rect">
            <a:avLst/>
          </a:prstGeom>
          <a:noFill/>
          <a:ln/>
        </p:spPr>
        <p:txBody>
          <a:bodyPr wrap="square" lIns="0" tIns="0" rIns="0" bIns="0" rtlCol="0" anchor="ctr"/>
          <a:lstStyle/>
          <a:p>
            <a:pPr indent="0" marL="0">
              <a:lnSpc>
                <a:spcPts val="2000"/>
              </a:lnSpc>
              <a:buNone/>
            </a:pPr>
            <a:r>
              <a:rPr lang="en-US" sz="1450" dirty="0">
                <a:solidFill>
                  <a:srgbClr val="93A9CC"/>
                </a:solidFill>
                <a:latin typeface="Calibri" pitchFamily="34" charset="0"/>
                <a:ea typeface="Calibri" pitchFamily="34" charset="-122"/>
                <a:cs typeface="Calibri" pitchFamily="34" charset="-120"/>
              </a:rPr>
              <a:t>It ranks just as well, trains for a fraction of the cost, and when someone appeals a removal you can actually explain why it was flagged.</a:t>
            </a:r>
            <a:endParaRPr lang="en-US" sz="1450" dirty="0"/>
          </a:p>
        </p:txBody>
      </p:sp>
      <p:sp>
        <p:nvSpPr>
          <p:cNvPr id="7" name="Text 5"/>
          <p:cNvSpPr/>
          <p:nvPr/>
        </p:nvSpPr>
        <p:spPr>
          <a:xfrm>
            <a:off x="685800" y="3191256"/>
            <a:ext cx="822960" cy="548640"/>
          </a:xfrm>
          <a:prstGeom prst="rect">
            <a:avLst/>
          </a:prstGeom>
          <a:noFill/>
          <a:ln/>
        </p:spPr>
        <p:txBody>
          <a:bodyPr wrap="square" lIns="0" tIns="0" rIns="0" bIns="0" rtlCol="0" anchor="ctr"/>
          <a:lstStyle/>
          <a:p>
            <a:pPr indent="0" marL="0">
              <a:buNone/>
            </a:pPr>
            <a:r>
              <a:rPr lang="en-US" sz="3000" b="1" dirty="0">
                <a:solidFill>
                  <a:srgbClr val="31456B"/>
                </a:solidFill>
                <a:latin typeface="Cambria" pitchFamily="34" charset="0"/>
                <a:ea typeface="Cambria" pitchFamily="34" charset="-122"/>
                <a:cs typeface="Cambria" pitchFamily="34" charset="-120"/>
              </a:rPr>
              <a:t>02</a:t>
            </a:r>
            <a:endParaRPr lang="en-US" sz="3000" dirty="0"/>
          </a:p>
        </p:txBody>
      </p:sp>
      <p:sp>
        <p:nvSpPr>
          <p:cNvPr id="8" name="Text 6"/>
          <p:cNvSpPr/>
          <p:nvPr/>
        </p:nvSpPr>
        <p:spPr>
          <a:xfrm>
            <a:off x="1600200" y="3172968"/>
            <a:ext cx="9692640" cy="384048"/>
          </a:xfrm>
          <a:prstGeom prst="rect">
            <a:avLst/>
          </a:prstGeom>
          <a:noFill/>
          <a:ln/>
        </p:spPr>
        <p:txBody>
          <a:bodyPr wrap="square" lIns="0" tIns="0" rIns="0" bIns="0" rtlCol="0" anchor="ctr"/>
          <a:lstStyle/>
          <a:p>
            <a:pPr indent="0" marL="0">
              <a:buNone/>
            </a:pPr>
            <a:r>
              <a:rPr lang="en-US" sz="2000" b="1" dirty="0">
                <a:solidFill>
                  <a:srgbClr val="E9EEF8"/>
                </a:solidFill>
                <a:latin typeface="Calibri" pitchFamily="34" charset="0"/>
                <a:ea typeface="Calibri" pitchFamily="34" charset="-122"/>
                <a:cs typeface="Calibri" pitchFamily="34" charset="-120"/>
              </a:rPr>
              <a:t>Treat the cut-off as an operational dial</a:t>
            </a:r>
            <a:endParaRPr lang="en-US" sz="2000" dirty="0"/>
          </a:p>
        </p:txBody>
      </p:sp>
      <p:sp>
        <p:nvSpPr>
          <p:cNvPr id="9" name="Text 7"/>
          <p:cNvSpPr/>
          <p:nvPr/>
        </p:nvSpPr>
        <p:spPr>
          <a:xfrm>
            <a:off x="1600200" y="3575304"/>
            <a:ext cx="9692640" cy="658368"/>
          </a:xfrm>
          <a:prstGeom prst="rect">
            <a:avLst/>
          </a:prstGeom>
          <a:noFill/>
          <a:ln/>
        </p:spPr>
        <p:txBody>
          <a:bodyPr wrap="square" lIns="0" tIns="0" rIns="0" bIns="0" rtlCol="0" anchor="ctr"/>
          <a:lstStyle/>
          <a:p>
            <a:pPr indent="0" marL="0">
              <a:lnSpc>
                <a:spcPts val="2000"/>
              </a:lnSpc>
              <a:buNone/>
            </a:pPr>
            <a:r>
              <a:rPr lang="en-US" sz="1450" dirty="0">
                <a:solidFill>
                  <a:srgbClr val="93A9CC"/>
                </a:solidFill>
                <a:latin typeface="Calibri" pitchFamily="34" charset="0"/>
                <a:ea typeface="Calibri" pitchFamily="34" charset="-122"/>
                <a:cs typeface="Calibri" pitchFamily="34" charset="-120"/>
              </a:rPr>
              <a:t>Tie it to how many reviewers you have this week. It is a capacity setting, not a fixed property of the model.</a:t>
            </a:r>
            <a:endParaRPr lang="en-US" sz="1450" dirty="0"/>
          </a:p>
        </p:txBody>
      </p:sp>
      <p:sp>
        <p:nvSpPr>
          <p:cNvPr id="10" name="Text 8"/>
          <p:cNvSpPr/>
          <p:nvPr/>
        </p:nvSpPr>
        <p:spPr>
          <a:xfrm>
            <a:off x="685800" y="4489704"/>
            <a:ext cx="822960" cy="548640"/>
          </a:xfrm>
          <a:prstGeom prst="rect">
            <a:avLst/>
          </a:prstGeom>
          <a:noFill/>
          <a:ln/>
        </p:spPr>
        <p:txBody>
          <a:bodyPr wrap="square" lIns="0" tIns="0" rIns="0" bIns="0" rtlCol="0" anchor="ctr"/>
          <a:lstStyle/>
          <a:p>
            <a:pPr indent="0" marL="0">
              <a:buNone/>
            </a:pPr>
            <a:r>
              <a:rPr lang="en-US" sz="3000" b="1" dirty="0">
                <a:solidFill>
                  <a:srgbClr val="31456B"/>
                </a:solidFill>
                <a:latin typeface="Cambria" pitchFamily="34" charset="0"/>
                <a:ea typeface="Cambria" pitchFamily="34" charset="-122"/>
                <a:cs typeface="Cambria" pitchFamily="34" charset="-120"/>
              </a:rPr>
              <a:t>03</a:t>
            </a:r>
            <a:endParaRPr lang="en-US" sz="3000" dirty="0"/>
          </a:p>
        </p:txBody>
      </p:sp>
      <p:sp>
        <p:nvSpPr>
          <p:cNvPr id="11" name="Text 9"/>
          <p:cNvSpPr/>
          <p:nvPr/>
        </p:nvSpPr>
        <p:spPr>
          <a:xfrm>
            <a:off x="1600200" y="4471416"/>
            <a:ext cx="9692640" cy="384048"/>
          </a:xfrm>
          <a:prstGeom prst="rect">
            <a:avLst/>
          </a:prstGeom>
          <a:noFill/>
          <a:ln/>
        </p:spPr>
        <p:txBody>
          <a:bodyPr wrap="square" lIns="0" tIns="0" rIns="0" bIns="0" rtlCol="0" anchor="ctr"/>
          <a:lstStyle/>
          <a:p>
            <a:pPr indent="0" marL="0">
              <a:buNone/>
            </a:pPr>
            <a:r>
              <a:rPr lang="en-US" sz="2000" b="1" dirty="0">
                <a:solidFill>
                  <a:srgbClr val="E9EEF8"/>
                </a:solidFill>
                <a:latin typeface="Calibri" pitchFamily="34" charset="0"/>
                <a:ea typeface="Calibri" pitchFamily="34" charset="-122"/>
                <a:cs typeface="Calibri" pitchFamily="34" charset="-120"/>
              </a:rPr>
              <a:t>Never sign off on one source of labels</a:t>
            </a:r>
            <a:endParaRPr lang="en-US" sz="2000" dirty="0"/>
          </a:p>
        </p:txBody>
      </p:sp>
      <p:sp>
        <p:nvSpPr>
          <p:cNvPr id="12" name="Text 10"/>
          <p:cNvSpPr/>
          <p:nvPr/>
        </p:nvSpPr>
        <p:spPr>
          <a:xfrm>
            <a:off x="1600200" y="4873752"/>
            <a:ext cx="9692640" cy="658368"/>
          </a:xfrm>
          <a:prstGeom prst="rect">
            <a:avLst/>
          </a:prstGeom>
          <a:noFill/>
          <a:ln/>
        </p:spPr>
        <p:txBody>
          <a:bodyPr wrap="square" lIns="0" tIns="0" rIns="0" bIns="0" rtlCol="0" anchor="ctr"/>
          <a:lstStyle/>
          <a:p>
            <a:pPr indent="0" marL="0">
              <a:lnSpc>
                <a:spcPts val="2000"/>
              </a:lnSpc>
              <a:buNone/>
            </a:pPr>
            <a:r>
              <a:rPr lang="en-US" sz="1450" dirty="0">
                <a:solidFill>
                  <a:srgbClr val="93A9CC"/>
                </a:solidFill>
                <a:latin typeface="Calibri" pitchFamily="34" charset="0"/>
                <a:ea typeface="Calibri" pitchFamily="34" charset="-122"/>
                <a:cs typeface="Calibri" pitchFamily="34" charset="-120"/>
              </a:rPr>
              <a:t>Validate every moderation model against data it has never seen from a platform it was not trained on.</a:t>
            </a:r>
            <a:endParaRPr lang="en-US" sz="1450" dirty="0"/>
          </a:p>
        </p:txBody>
      </p:sp>
      <p:sp>
        <p:nvSpPr>
          <p:cNvPr id="13" name="Shape 11"/>
          <p:cNvSpPr/>
          <p:nvPr/>
        </p:nvSpPr>
        <p:spPr>
          <a:xfrm>
            <a:off x="685800" y="5943600"/>
            <a:ext cx="155448" cy="155448"/>
          </a:xfrm>
          <a:prstGeom prst="roundRect">
            <a:avLst>
              <a:gd name="adj" fmla="val 23529"/>
            </a:avLst>
          </a:prstGeom>
          <a:solidFill>
            <a:srgbClr val="27395C"/>
          </a:solidFill>
          <a:ln/>
        </p:spPr>
      </p:sp>
      <p:sp>
        <p:nvSpPr>
          <p:cNvPr id="14" name="Shape 12"/>
          <p:cNvSpPr/>
          <p:nvPr/>
        </p:nvSpPr>
        <p:spPr>
          <a:xfrm>
            <a:off x="923544" y="5943600"/>
            <a:ext cx="155448" cy="155448"/>
          </a:xfrm>
          <a:prstGeom prst="roundRect">
            <a:avLst>
              <a:gd name="adj" fmla="val 23529"/>
            </a:avLst>
          </a:prstGeom>
          <a:solidFill>
            <a:srgbClr val="FF6B5B"/>
          </a:solidFill>
          <a:ln/>
        </p:spPr>
      </p:sp>
      <p:sp>
        <p:nvSpPr>
          <p:cNvPr id="15" name="Shape 13"/>
          <p:cNvSpPr/>
          <p:nvPr/>
        </p:nvSpPr>
        <p:spPr>
          <a:xfrm>
            <a:off x="1161288" y="5943600"/>
            <a:ext cx="155448" cy="155448"/>
          </a:xfrm>
          <a:prstGeom prst="roundRect">
            <a:avLst>
              <a:gd name="adj" fmla="val 23529"/>
            </a:avLst>
          </a:prstGeom>
          <a:solidFill>
            <a:srgbClr val="27395C"/>
          </a:solidFill>
          <a:ln/>
        </p:spPr>
      </p:sp>
      <p:sp>
        <p:nvSpPr>
          <p:cNvPr id="16" name="Shape 14"/>
          <p:cNvSpPr/>
          <p:nvPr/>
        </p:nvSpPr>
        <p:spPr>
          <a:xfrm>
            <a:off x="1399032" y="5943600"/>
            <a:ext cx="155448" cy="155448"/>
          </a:xfrm>
          <a:prstGeom prst="roundRect">
            <a:avLst>
              <a:gd name="adj" fmla="val 23529"/>
            </a:avLst>
          </a:prstGeom>
          <a:solidFill>
            <a:srgbClr val="27395C"/>
          </a:solidFill>
          <a:ln/>
        </p:spPr>
      </p:sp>
      <p:sp>
        <p:nvSpPr>
          <p:cNvPr id="17" name="Shape 15"/>
          <p:cNvSpPr/>
          <p:nvPr/>
        </p:nvSpPr>
        <p:spPr>
          <a:xfrm>
            <a:off x="1636776" y="5943600"/>
            <a:ext cx="155448" cy="155448"/>
          </a:xfrm>
          <a:prstGeom prst="roundRect">
            <a:avLst>
              <a:gd name="adj" fmla="val 23529"/>
            </a:avLst>
          </a:prstGeom>
          <a:solidFill>
            <a:srgbClr val="FF6B5B"/>
          </a:solidFill>
          <a:ln/>
        </p:spPr>
      </p:sp>
      <p:sp>
        <p:nvSpPr>
          <p:cNvPr id="18" name="Shape 16"/>
          <p:cNvSpPr/>
          <p:nvPr/>
        </p:nvSpPr>
        <p:spPr>
          <a:xfrm>
            <a:off x="1874520" y="5943600"/>
            <a:ext cx="155448" cy="155448"/>
          </a:xfrm>
          <a:prstGeom prst="roundRect">
            <a:avLst>
              <a:gd name="adj" fmla="val 23529"/>
            </a:avLst>
          </a:prstGeom>
          <a:solidFill>
            <a:srgbClr val="FF6B5B"/>
          </a:solidFill>
          <a:ln/>
        </p:spPr>
      </p:sp>
      <p:sp>
        <p:nvSpPr>
          <p:cNvPr id="19" name="Shape 17"/>
          <p:cNvSpPr/>
          <p:nvPr/>
        </p:nvSpPr>
        <p:spPr>
          <a:xfrm>
            <a:off x="2112264" y="5943600"/>
            <a:ext cx="155448" cy="155448"/>
          </a:xfrm>
          <a:prstGeom prst="roundRect">
            <a:avLst>
              <a:gd name="adj" fmla="val 23529"/>
            </a:avLst>
          </a:prstGeom>
          <a:solidFill>
            <a:srgbClr val="27395C"/>
          </a:solidFill>
          <a:ln/>
        </p:spPr>
      </p:sp>
      <p:sp>
        <p:nvSpPr>
          <p:cNvPr id="20" name="Shape 18"/>
          <p:cNvSpPr/>
          <p:nvPr/>
        </p:nvSpPr>
        <p:spPr>
          <a:xfrm>
            <a:off x="2350008" y="5943600"/>
            <a:ext cx="155448" cy="155448"/>
          </a:xfrm>
          <a:prstGeom prst="roundRect">
            <a:avLst>
              <a:gd name="adj" fmla="val 23529"/>
            </a:avLst>
          </a:prstGeom>
          <a:solidFill>
            <a:srgbClr val="27395C"/>
          </a:solidFill>
          <a:ln/>
        </p:spPr>
      </p:sp>
      <p:sp>
        <p:nvSpPr>
          <p:cNvPr id="21" name="Shape 19"/>
          <p:cNvSpPr/>
          <p:nvPr/>
        </p:nvSpPr>
        <p:spPr>
          <a:xfrm>
            <a:off x="2587752" y="5943600"/>
            <a:ext cx="155448" cy="155448"/>
          </a:xfrm>
          <a:prstGeom prst="roundRect">
            <a:avLst>
              <a:gd name="adj" fmla="val 23529"/>
            </a:avLst>
          </a:prstGeom>
          <a:solidFill>
            <a:srgbClr val="27395C"/>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685800" y="274320"/>
            <a:ext cx="10820095" cy="274320"/>
          </a:xfrm>
          <a:prstGeom prst="rect">
            <a:avLst/>
          </a:prstGeom>
          <a:noFill/>
          <a:ln/>
        </p:spPr>
        <p:txBody>
          <a:bodyPr wrap="square" lIns="0" tIns="0" rIns="0" bIns="0" rtlCol="0" anchor="ctr"/>
          <a:lstStyle/>
          <a:p>
            <a:pPr indent="0" marL="0">
              <a:buNone/>
            </a:pPr>
            <a:r>
              <a:rPr lang="en-US" sz="1200" b="1" spc="220" kern="0" dirty="0">
                <a:solidFill>
                  <a:srgbClr val="FF6B5B"/>
                </a:solidFill>
                <a:latin typeface="Calibri" pitchFamily="34" charset="0"/>
                <a:ea typeface="Calibri" pitchFamily="34" charset="-122"/>
                <a:cs typeface="Calibri" pitchFamily="34" charset="-120"/>
              </a:rPr>
              <a:t>WHAT I WOULD CAVEAT</a:t>
            </a:r>
            <a:endParaRPr lang="en-US" sz="1200" dirty="0"/>
          </a:p>
        </p:txBody>
      </p:sp>
      <p:sp>
        <p:nvSpPr>
          <p:cNvPr id="3" name="Text 1"/>
          <p:cNvSpPr/>
          <p:nvPr/>
        </p:nvSpPr>
        <p:spPr>
          <a:xfrm>
            <a:off x="685800" y="566928"/>
            <a:ext cx="10820095" cy="822960"/>
          </a:xfrm>
          <a:prstGeom prst="rect">
            <a:avLst/>
          </a:prstGeom>
          <a:noFill/>
          <a:ln/>
        </p:spPr>
        <p:txBody>
          <a:bodyPr wrap="square" lIns="0" tIns="0" rIns="0" bIns="0" rtlCol="0" anchor="ctr"/>
          <a:lstStyle/>
          <a:p>
            <a:pPr indent="0" marL="0">
              <a:buNone/>
            </a:pPr>
            <a:r>
              <a:rPr lang="en-US" sz="3600" b="1" dirty="0">
                <a:solidFill>
                  <a:srgbClr val="E9EEF8"/>
                </a:solidFill>
                <a:latin typeface="Cambria" pitchFamily="34" charset="0"/>
                <a:ea typeface="Cambria" pitchFamily="34" charset="-122"/>
                <a:cs typeface="Cambria" pitchFamily="34" charset="-120"/>
              </a:rPr>
              <a:t>Two limits on everything I just said</a:t>
            </a:r>
            <a:endParaRPr lang="en-US" sz="3600" dirty="0"/>
          </a:p>
        </p:txBody>
      </p:sp>
      <p:sp>
        <p:nvSpPr>
          <p:cNvPr id="4" name="Shape 2"/>
          <p:cNvSpPr/>
          <p:nvPr/>
        </p:nvSpPr>
        <p:spPr>
          <a:xfrm>
            <a:off x="685800" y="1691640"/>
            <a:ext cx="5212080" cy="1965960"/>
          </a:xfrm>
          <a:prstGeom prst="roundRect">
            <a:avLst>
              <a:gd name="adj" fmla="val 5581"/>
            </a:avLst>
          </a:prstGeom>
          <a:solidFill>
            <a:srgbClr val="1B2740"/>
          </a:solidFill>
          <a:ln/>
        </p:spPr>
      </p:sp>
      <p:sp>
        <p:nvSpPr>
          <p:cNvPr id="5" name="Text 3"/>
          <p:cNvSpPr/>
          <p:nvPr/>
        </p:nvSpPr>
        <p:spPr>
          <a:xfrm>
            <a:off x="1005840" y="1920240"/>
            <a:ext cx="4572000" cy="384048"/>
          </a:xfrm>
          <a:prstGeom prst="rect">
            <a:avLst/>
          </a:prstGeom>
          <a:noFill/>
          <a:ln/>
        </p:spPr>
        <p:txBody>
          <a:bodyPr wrap="square" lIns="0" tIns="0" rIns="0" bIns="0" rtlCol="0" anchor="ctr"/>
          <a:lstStyle/>
          <a:p>
            <a:pPr indent="0" marL="0">
              <a:buNone/>
            </a:pPr>
            <a:r>
              <a:rPr lang="en-US" sz="1800" b="1" dirty="0">
                <a:solidFill>
                  <a:srgbClr val="FF6B5B"/>
                </a:solidFill>
                <a:latin typeface="Calibri" pitchFamily="34" charset="0"/>
                <a:ea typeface="Calibri" pitchFamily="34" charset="-122"/>
                <a:cs typeface="Calibri" pitchFamily="34" charset="-120"/>
              </a:rPr>
              <a:t>English text only</a:t>
            </a:r>
            <a:endParaRPr lang="en-US" sz="1800" dirty="0"/>
          </a:p>
        </p:txBody>
      </p:sp>
      <p:sp>
        <p:nvSpPr>
          <p:cNvPr id="6" name="Text 4"/>
          <p:cNvSpPr/>
          <p:nvPr/>
        </p:nvSpPr>
        <p:spPr>
          <a:xfrm>
            <a:off x="1005840" y="2359152"/>
            <a:ext cx="4572000" cy="1143000"/>
          </a:xfrm>
          <a:prstGeom prst="rect">
            <a:avLst/>
          </a:prstGeom>
          <a:noFill/>
          <a:ln/>
        </p:spPr>
        <p:txBody>
          <a:bodyPr wrap="square" lIns="0" tIns="0" rIns="0" bIns="0" rtlCol="0" anchor="ctr"/>
          <a:lstStyle/>
          <a:p>
            <a:pPr indent="0" marL="0">
              <a:lnSpc>
                <a:spcPts val="2100"/>
              </a:lnSpc>
              <a:buNone/>
            </a:pPr>
            <a:r>
              <a:rPr lang="en-US" sz="1450" dirty="0">
                <a:solidFill>
                  <a:srgbClr val="93A9CC"/>
                </a:solidFill>
                <a:latin typeface="Calibri" pitchFamily="34" charset="0"/>
                <a:ea typeface="Calibri" pitchFamily="34" charset="-122"/>
                <a:cs typeface="Calibri" pitchFamily="34" charset="-120"/>
              </a:rPr>
              <a:t>Both collections are written English. The platform I have in mind is short video, in dozens of languages. Nothing here transfers for free.</a:t>
            </a:r>
            <a:endParaRPr lang="en-US" sz="1450" dirty="0"/>
          </a:p>
        </p:txBody>
      </p:sp>
      <p:sp>
        <p:nvSpPr>
          <p:cNvPr id="7" name="Shape 5"/>
          <p:cNvSpPr/>
          <p:nvPr/>
        </p:nvSpPr>
        <p:spPr>
          <a:xfrm>
            <a:off x="6355080" y="1691640"/>
            <a:ext cx="5212080" cy="1965960"/>
          </a:xfrm>
          <a:prstGeom prst="roundRect">
            <a:avLst>
              <a:gd name="adj" fmla="val 5581"/>
            </a:avLst>
          </a:prstGeom>
          <a:solidFill>
            <a:srgbClr val="1B2740"/>
          </a:solidFill>
          <a:ln/>
        </p:spPr>
      </p:sp>
      <p:sp>
        <p:nvSpPr>
          <p:cNvPr id="8" name="Text 6"/>
          <p:cNvSpPr/>
          <p:nvPr/>
        </p:nvSpPr>
        <p:spPr>
          <a:xfrm>
            <a:off x="6675120" y="1920240"/>
            <a:ext cx="4572000" cy="384048"/>
          </a:xfrm>
          <a:prstGeom prst="rect">
            <a:avLst/>
          </a:prstGeom>
          <a:noFill/>
          <a:ln/>
        </p:spPr>
        <p:txBody>
          <a:bodyPr wrap="square" lIns="0" tIns="0" rIns="0" bIns="0" rtlCol="0" anchor="ctr"/>
          <a:lstStyle/>
          <a:p>
            <a:pPr indent="0" marL="0">
              <a:buNone/>
            </a:pPr>
            <a:r>
              <a:rPr lang="en-US" sz="1800" b="1" dirty="0">
                <a:solidFill>
                  <a:srgbClr val="FF6B5B"/>
                </a:solidFill>
                <a:latin typeface="Calibri" pitchFamily="34" charset="0"/>
                <a:ea typeface="Calibri" pitchFamily="34" charset="-122"/>
                <a:cs typeface="Calibri" pitchFamily="34" charset="-120"/>
              </a:rPr>
              <a:t>Fair on average is not fair</a:t>
            </a:r>
            <a:endParaRPr lang="en-US" sz="1800" dirty="0"/>
          </a:p>
        </p:txBody>
      </p:sp>
      <p:sp>
        <p:nvSpPr>
          <p:cNvPr id="9" name="Text 7"/>
          <p:cNvSpPr/>
          <p:nvPr/>
        </p:nvSpPr>
        <p:spPr>
          <a:xfrm>
            <a:off x="6675120" y="2359152"/>
            <a:ext cx="4572000" cy="1143000"/>
          </a:xfrm>
          <a:prstGeom prst="rect">
            <a:avLst/>
          </a:prstGeom>
          <a:noFill/>
          <a:ln/>
        </p:spPr>
        <p:txBody>
          <a:bodyPr wrap="square" lIns="0" tIns="0" rIns="0" bIns="0" rtlCol="0" anchor="ctr"/>
          <a:lstStyle/>
          <a:p>
            <a:pPr indent="0" marL="0">
              <a:lnSpc>
                <a:spcPts val="2100"/>
              </a:lnSpc>
              <a:buNone/>
            </a:pPr>
            <a:r>
              <a:rPr lang="en-US" sz="1450" dirty="0">
                <a:solidFill>
                  <a:srgbClr val="93A9CC"/>
                </a:solidFill>
                <a:latin typeface="Calibri" pitchFamily="34" charset="0"/>
                <a:ea typeface="Calibri" pitchFamily="34" charset="-122"/>
                <a:cs typeface="Calibri" pitchFamily="34" charset="-120"/>
              </a:rPr>
              <a:t>A system that looks even overall can still be far worse for one community. Before launch I would want the error rates broken down by dialect and speaker group.</a:t>
            </a:r>
            <a:endParaRPr lang="en-US" sz="1450" dirty="0"/>
          </a:p>
        </p:txBody>
      </p:sp>
      <p:sp>
        <p:nvSpPr>
          <p:cNvPr id="10" name="Text 8"/>
          <p:cNvSpPr/>
          <p:nvPr/>
        </p:nvSpPr>
        <p:spPr>
          <a:xfrm>
            <a:off x="685800" y="4069080"/>
            <a:ext cx="10789920" cy="731520"/>
          </a:xfrm>
          <a:prstGeom prst="rect">
            <a:avLst/>
          </a:prstGeom>
          <a:noFill/>
          <a:ln/>
        </p:spPr>
        <p:txBody>
          <a:bodyPr wrap="square" lIns="0" tIns="0" rIns="0" bIns="0" rtlCol="0" anchor="ctr"/>
          <a:lstStyle/>
          <a:p>
            <a:pPr indent="0" marL="0">
              <a:buNone/>
            </a:pPr>
            <a:r>
              <a:rPr lang="en-US" sz="4600" b="1" dirty="0">
                <a:solidFill>
                  <a:srgbClr val="E9EEF8"/>
                </a:solidFill>
                <a:latin typeface="Cambria" pitchFamily="34" charset="0"/>
                <a:ea typeface="Cambria" pitchFamily="34" charset="-122"/>
                <a:cs typeface="Cambria" pitchFamily="34" charset="-120"/>
              </a:rPr>
              <a:t>Measure the queue,</a:t>
            </a:r>
            <a:endParaRPr lang="en-US" sz="4600" dirty="0"/>
          </a:p>
        </p:txBody>
      </p:sp>
      <p:sp>
        <p:nvSpPr>
          <p:cNvPr id="11" name="Text 9"/>
          <p:cNvSpPr/>
          <p:nvPr/>
        </p:nvSpPr>
        <p:spPr>
          <a:xfrm>
            <a:off x="685800" y="4800600"/>
            <a:ext cx="10789920" cy="731520"/>
          </a:xfrm>
          <a:prstGeom prst="rect">
            <a:avLst/>
          </a:prstGeom>
          <a:noFill/>
          <a:ln/>
        </p:spPr>
        <p:txBody>
          <a:bodyPr wrap="square" lIns="0" tIns="0" rIns="0" bIns="0" rtlCol="0" anchor="ctr"/>
          <a:lstStyle/>
          <a:p>
            <a:pPr indent="0" marL="0">
              <a:buNone/>
            </a:pPr>
            <a:r>
              <a:rPr lang="en-US" sz="4600" b="1" dirty="0">
                <a:solidFill>
                  <a:srgbClr val="FF6B5B"/>
                </a:solidFill>
                <a:latin typeface="Cambria" pitchFamily="34" charset="0"/>
                <a:ea typeface="Cambria" pitchFamily="34" charset="-122"/>
                <a:cs typeface="Cambria" pitchFamily="34" charset="-120"/>
              </a:rPr>
              <a:t>not the average.</a:t>
            </a:r>
            <a:endParaRPr lang="en-US" sz="4600" dirty="0"/>
          </a:p>
        </p:txBody>
      </p:sp>
      <p:sp>
        <p:nvSpPr>
          <p:cNvPr id="12" name="Shape 10"/>
          <p:cNvSpPr/>
          <p:nvPr/>
        </p:nvSpPr>
        <p:spPr>
          <a:xfrm>
            <a:off x="685800" y="5806440"/>
            <a:ext cx="155448" cy="155448"/>
          </a:xfrm>
          <a:prstGeom prst="roundRect">
            <a:avLst>
              <a:gd name="adj" fmla="val 23529"/>
            </a:avLst>
          </a:prstGeom>
          <a:solidFill>
            <a:srgbClr val="27395C"/>
          </a:solidFill>
          <a:ln/>
        </p:spPr>
      </p:sp>
      <p:sp>
        <p:nvSpPr>
          <p:cNvPr id="13" name="Shape 11"/>
          <p:cNvSpPr/>
          <p:nvPr/>
        </p:nvSpPr>
        <p:spPr>
          <a:xfrm>
            <a:off x="923544" y="5806440"/>
            <a:ext cx="155448" cy="155448"/>
          </a:xfrm>
          <a:prstGeom prst="roundRect">
            <a:avLst>
              <a:gd name="adj" fmla="val 23529"/>
            </a:avLst>
          </a:prstGeom>
          <a:solidFill>
            <a:srgbClr val="FF6B5B"/>
          </a:solidFill>
          <a:ln/>
        </p:spPr>
      </p:sp>
      <p:sp>
        <p:nvSpPr>
          <p:cNvPr id="14" name="Shape 12"/>
          <p:cNvSpPr/>
          <p:nvPr/>
        </p:nvSpPr>
        <p:spPr>
          <a:xfrm>
            <a:off x="1161288" y="5806440"/>
            <a:ext cx="155448" cy="155448"/>
          </a:xfrm>
          <a:prstGeom prst="roundRect">
            <a:avLst>
              <a:gd name="adj" fmla="val 23529"/>
            </a:avLst>
          </a:prstGeom>
          <a:solidFill>
            <a:srgbClr val="27395C"/>
          </a:solidFill>
          <a:ln/>
        </p:spPr>
      </p:sp>
      <p:sp>
        <p:nvSpPr>
          <p:cNvPr id="15" name="Shape 13"/>
          <p:cNvSpPr/>
          <p:nvPr/>
        </p:nvSpPr>
        <p:spPr>
          <a:xfrm>
            <a:off x="1399032" y="5806440"/>
            <a:ext cx="155448" cy="155448"/>
          </a:xfrm>
          <a:prstGeom prst="roundRect">
            <a:avLst>
              <a:gd name="adj" fmla="val 23529"/>
            </a:avLst>
          </a:prstGeom>
          <a:solidFill>
            <a:srgbClr val="27395C"/>
          </a:solidFill>
          <a:ln/>
        </p:spPr>
      </p:sp>
      <p:sp>
        <p:nvSpPr>
          <p:cNvPr id="16" name="Shape 14"/>
          <p:cNvSpPr/>
          <p:nvPr/>
        </p:nvSpPr>
        <p:spPr>
          <a:xfrm>
            <a:off x="1636776" y="5806440"/>
            <a:ext cx="155448" cy="155448"/>
          </a:xfrm>
          <a:prstGeom prst="roundRect">
            <a:avLst>
              <a:gd name="adj" fmla="val 23529"/>
            </a:avLst>
          </a:prstGeom>
          <a:solidFill>
            <a:srgbClr val="FF6B5B"/>
          </a:solidFill>
          <a:ln/>
        </p:spPr>
      </p:sp>
      <p:sp>
        <p:nvSpPr>
          <p:cNvPr id="17" name="Shape 15"/>
          <p:cNvSpPr/>
          <p:nvPr/>
        </p:nvSpPr>
        <p:spPr>
          <a:xfrm>
            <a:off x="1874520" y="5806440"/>
            <a:ext cx="155448" cy="155448"/>
          </a:xfrm>
          <a:prstGeom prst="roundRect">
            <a:avLst>
              <a:gd name="adj" fmla="val 23529"/>
            </a:avLst>
          </a:prstGeom>
          <a:solidFill>
            <a:srgbClr val="FF6B5B"/>
          </a:solidFill>
          <a:ln/>
        </p:spPr>
      </p:sp>
      <p:sp>
        <p:nvSpPr>
          <p:cNvPr id="18" name="Shape 16"/>
          <p:cNvSpPr/>
          <p:nvPr/>
        </p:nvSpPr>
        <p:spPr>
          <a:xfrm>
            <a:off x="2112264" y="5806440"/>
            <a:ext cx="155448" cy="155448"/>
          </a:xfrm>
          <a:prstGeom prst="roundRect">
            <a:avLst>
              <a:gd name="adj" fmla="val 23529"/>
            </a:avLst>
          </a:prstGeom>
          <a:solidFill>
            <a:srgbClr val="27395C"/>
          </a:solidFill>
          <a:ln/>
        </p:spPr>
      </p:sp>
      <p:sp>
        <p:nvSpPr>
          <p:cNvPr id="19" name="Shape 17"/>
          <p:cNvSpPr/>
          <p:nvPr/>
        </p:nvSpPr>
        <p:spPr>
          <a:xfrm>
            <a:off x="2350008" y="5806440"/>
            <a:ext cx="155448" cy="155448"/>
          </a:xfrm>
          <a:prstGeom prst="roundRect">
            <a:avLst>
              <a:gd name="adj" fmla="val 23529"/>
            </a:avLst>
          </a:prstGeom>
          <a:solidFill>
            <a:srgbClr val="27395C"/>
          </a:solidFill>
          <a:ln/>
        </p:spPr>
      </p:sp>
      <p:sp>
        <p:nvSpPr>
          <p:cNvPr id="20" name="Shape 18"/>
          <p:cNvSpPr/>
          <p:nvPr/>
        </p:nvSpPr>
        <p:spPr>
          <a:xfrm>
            <a:off x="2587752" y="5806440"/>
            <a:ext cx="155448" cy="155448"/>
          </a:xfrm>
          <a:prstGeom prst="roundRect">
            <a:avLst>
              <a:gd name="adj" fmla="val 23529"/>
            </a:avLst>
          </a:prstGeom>
          <a:solidFill>
            <a:srgbClr val="27395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gets reviewed first?</dc:title>
  <dc:subject>Content moderation triage</dc:subject>
  <dc:creator> </dc:creator>
  <cp:lastModifiedBy> </cp:lastModifiedBy>
  <cp:revision>1</cp:revision>
  <dcterms:created xsi:type="dcterms:W3CDTF">2026-08-13T17:37:42Z</dcterms:created>
  <dcterms:modified xsi:type="dcterms:W3CDTF">2026-08-13T17:37:42Z</dcterms:modified>
</cp:coreProperties>
</file>